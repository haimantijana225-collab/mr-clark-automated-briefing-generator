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9" r:id="rId1"/>
  </p:sldMasterIdLst>
  <p:notesMasterIdLst>
    <p:notesMasterId r:id="rId31"/>
  </p:notesMasterIdLst>
  <p:sldIdLst>
    <p:sldId id="256" r:id="rId2"/>
    <p:sldId id="673" r:id="rId3"/>
    <p:sldId id="672" r:id="rId4"/>
    <p:sldId id="678" r:id="rId5"/>
    <p:sldId id="684" r:id="rId6"/>
    <p:sldId id="685" r:id="rId7"/>
    <p:sldId id="687" r:id="rId8"/>
    <p:sldId id="688" r:id="rId9"/>
    <p:sldId id="691" r:id="rId10"/>
    <p:sldId id="677" r:id="rId11"/>
    <p:sldId id="689" r:id="rId12"/>
    <p:sldId id="690" r:id="rId13"/>
    <p:sldId id="695" r:id="rId14"/>
    <p:sldId id="692" r:id="rId15"/>
    <p:sldId id="338" r:id="rId16"/>
    <p:sldId id="693" r:id="rId17"/>
    <p:sldId id="701" r:id="rId18"/>
    <p:sldId id="681" r:id="rId19"/>
    <p:sldId id="698" r:id="rId20"/>
    <p:sldId id="699" r:id="rId21"/>
    <p:sldId id="700" r:id="rId22"/>
    <p:sldId id="682" r:id="rId23"/>
    <p:sldId id="703" r:id="rId24"/>
    <p:sldId id="683" r:id="rId25"/>
    <p:sldId id="704" r:id="rId26"/>
    <p:sldId id="705" r:id="rId27"/>
    <p:sldId id="707" r:id="rId28"/>
    <p:sldId id="708" r:id="rId29"/>
    <p:sldId id="70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D2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79" autoAdjust="0"/>
    <p:restoredTop sz="90555" autoAdjust="0"/>
  </p:normalViewPr>
  <p:slideViewPr>
    <p:cSldViewPr snapToGrid="0">
      <p:cViewPr varScale="1">
        <p:scale>
          <a:sx n="103" d="100"/>
          <a:sy n="103" d="100"/>
        </p:scale>
        <p:origin x="924" y="12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0DA445-AACD-4592-8B32-09AEA8123CB2}" type="datetimeFigureOut">
              <a:rPr lang="en-IN" smtClean="0"/>
              <a:t>31-10-2025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B185EE-5518-4EB2-A81E-6263F3177BA9}" type="slidenum">
              <a:rPr lang="en-IN" smtClean="0"/>
              <a:t>‹#›</a:t>
            </a:fld>
            <a:endParaRPr lang="en-IN"/>
          </a:p>
        </p:txBody>
      </p:sp>
    </p:spTree>
    <p:extLst>
      <p:ext uri="{BB962C8B-B14F-4D97-AF65-F5344CB8AC3E}">
        <p14:creationId xmlns:p14="http://schemas.microsoft.com/office/powerpoint/2010/main" val="656412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B185EE-5518-4EB2-A81E-6263F3177BA9}" type="slidenum">
              <a:rPr lang="en-IN" smtClean="0"/>
              <a:t>12</a:t>
            </a:fld>
            <a:endParaRPr lang="en-IN"/>
          </a:p>
        </p:txBody>
      </p:sp>
    </p:spTree>
    <p:extLst>
      <p:ext uri="{BB962C8B-B14F-4D97-AF65-F5344CB8AC3E}">
        <p14:creationId xmlns:p14="http://schemas.microsoft.com/office/powerpoint/2010/main" val="2424637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92491E-7BCC-485B-B8D4-C5F7FA971C95}" type="datetime1">
              <a:rPr lang="en-IN" smtClean="0"/>
              <a:t>31-10-2025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3266722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49123A-3F7D-4864-81E5-F5938C63AAE8}"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4190546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A6C4D1-B87F-40D0-98EE-4B92AB814D1B}"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124067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1B0898-A2A9-4181-9C6C-EDF8FB93C88E}" type="datetime1">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1532505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3B74FD-F5EC-4BA6-B71F-481C8EE6A267}" type="datetime1">
              <a:rPr lang="en-IN" smtClean="0"/>
              <a:t>31-10-2025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3568113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06AB19-D6C9-489D-A9E8-B3D1853CF60A}" type="datetime1">
              <a:rPr lang="en-IN" smtClean="0"/>
              <a:t>31-10-2025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1576245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FFE9E-13D8-45A1-BC21-A029028FA512}" type="datetime1">
              <a:rPr lang="en-IN" smtClean="0"/>
              <a:t>31-10-2025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192924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D55E9F-DCE0-4540-9F84-50AB72BE8212}" type="datetime1">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3161626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BC6C2E-78C3-4892-B993-D851CA107C61}" type="datetime1">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469517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438ACF-14D4-4AF9-83AA-96A53D51F1B6}" type="datetime1">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2628751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117D57-FE3A-4415-A5B1-9B8C632D821B}"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2378872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E2B64F-5EB6-4344-B715-68D9A359C39E}"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6027205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175C4-F8C5-43CA-9B0B-02A27F068913}"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1676911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598E1A-A046-4009-9F46-2EC95ED25115}"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1564987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E60E24-5622-46CF-8D19-6CD1E0F028B9}"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3758617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741C7E-468D-4F00-8F57-44B61916A706}"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306999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C10DA6-973B-47A8-B400-0FC25058058D}"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CF3C3F-F013-41B9-B023-C058398D1588}" type="slidenum">
              <a:rPr lang="en-IN" smtClean="0"/>
              <a:t>‹#›</a:t>
            </a:fld>
            <a:endParaRPr lang="en-IN"/>
          </a:p>
        </p:txBody>
      </p:sp>
    </p:spTree>
    <p:extLst>
      <p:ext uri="{BB962C8B-B14F-4D97-AF65-F5344CB8AC3E}">
        <p14:creationId xmlns:p14="http://schemas.microsoft.com/office/powerpoint/2010/main" val="2520359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9572A5C-BB1F-4BF6-88E8-DD5C81AA86CE}" type="datetime1">
              <a:rPr lang="en-IN" smtClean="0"/>
              <a:t>31-10-2025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FCF3C3F-F013-41B9-B023-C058398D1588}" type="slidenum">
              <a:rPr lang="en-IN" smtClean="0"/>
              <a:t>‹#›</a:t>
            </a:fld>
            <a:endParaRPr lang="en-IN"/>
          </a:p>
        </p:txBody>
      </p:sp>
    </p:spTree>
    <p:extLst>
      <p:ext uri="{BB962C8B-B14F-4D97-AF65-F5344CB8AC3E}">
        <p14:creationId xmlns:p14="http://schemas.microsoft.com/office/powerpoint/2010/main" val="3803568720"/>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A238EBF-F1DA-0841-4739-1294E4D5AE73}"/>
              </a:ext>
            </a:extLst>
          </p:cNvPr>
          <p:cNvSpPr/>
          <p:nvPr/>
        </p:nvSpPr>
        <p:spPr>
          <a:xfrm>
            <a:off x="1817622" y="1679133"/>
            <a:ext cx="9993086" cy="1371600"/>
          </a:xfrm>
          <a:prstGeom prst="roundRect">
            <a:avLst/>
          </a:prstGeom>
          <a:solidFill>
            <a:schemeClr val="accent1"/>
          </a:solidFill>
          <a:ln w="8572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86D1AC68-DA03-AF26-0CF8-BF25FC65E4A1}"/>
              </a:ext>
            </a:extLst>
          </p:cNvPr>
          <p:cNvSpPr>
            <a:spLocks noGrp="1"/>
          </p:cNvSpPr>
          <p:nvPr>
            <p:ph type="ctrTitle"/>
          </p:nvPr>
        </p:nvSpPr>
        <p:spPr>
          <a:xfrm>
            <a:off x="1959428" y="1894116"/>
            <a:ext cx="9709474" cy="739795"/>
          </a:xfrm>
        </p:spPr>
        <p:txBody>
          <a:bodyPr>
            <a:noAutofit/>
          </a:bodyPr>
          <a:lstStyle/>
          <a:p>
            <a:pPr algn="l"/>
            <a:r>
              <a:rPr lang="en-US" sz="3600" b="1" dirty="0">
                <a:solidFill>
                  <a:schemeClr val="bg1"/>
                </a:solidFill>
                <a:latin typeface="Times New Roman" panose="02020603050405020304" pitchFamily="18" charset="0"/>
                <a:cs typeface="Times New Roman" panose="02020603050405020304" pitchFamily="18" charset="0"/>
              </a:rPr>
              <a:t>Modern Computing Systems Design (CSE 2221)</a:t>
            </a:r>
          </a:p>
        </p:txBody>
      </p:sp>
      <p:sp>
        <p:nvSpPr>
          <p:cNvPr id="2" name="Subtitle 2">
            <a:extLst>
              <a:ext uri="{FF2B5EF4-FFF2-40B4-BE49-F238E27FC236}">
                <a16:creationId xmlns:a16="http://schemas.microsoft.com/office/drawing/2014/main" id="{8DA90945-4A6B-3A71-81EC-1B6D224A9029}"/>
              </a:ext>
            </a:extLst>
          </p:cNvPr>
          <p:cNvSpPr>
            <a:spLocks noGrp="1"/>
          </p:cNvSpPr>
          <p:nvPr>
            <p:ph type="subTitle" idx="1"/>
          </p:nvPr>
        </p:nvSpPr>
        <p:spPr>
          <a:xfrm>
            <a:off x="1959428" y="3467554"/>
            <a:ext cx="10064621" cy="776731"/>
          </a:xfrm>
        </p:spPr>
        <p:txBody>
          <a:bodyPr>
            <a:normAutofit/>
          </a:bodyPr>
          <a:lstStyle/>
          <a:p>
            <a:pPr algn="ctr"/>
            <a:r>
              <a:rPr lang="en-US" sz="3200" b="1" dirty="0">
                <a:solidFill>
                  <a:schemeClr val="accent6">
                    <a:lumMod val="75000"/>
                  </a:schemeClr>
                </a:solidFill>
                <a:latin typeface="Times New Roman" panose="02020603050405020304" pitchFamily="18" charset="0"/>
                <a:cs typeface="Times New Roman" panose="02020603050405020304" pitchFamily="18" charset="0"/>
              </a:rPr>
              <a:t>3</a:t>
            </a:r>
            <a:r>
              <a:rPr lang="en-US" sz="3200" b="1" baseline="30000" dirty="0">
                <a:solidFill>
                  <a:schemeClr val="accent6">
                    <a:lumMod val="75000"/>
                  </a:schemeClr>
                </a:solidFill>
                <a:latin typeface="Times New Roman" panose="02020603050405020304" pitchFamily="18" charset="0"/>
                <a:cs typeface="Times New Roman" panose="02020603050405020304" pitchFamily="18" charset="0"/>
              </a:rPr>
              <a:t>rd</a:t>
            </a:r>
            <a:r>
              <a:rPr lang="en-US" sz="3200" b="1" dirty="0">
                <a:solidFill>
                  <a:schemeClr val="accent6">
                    <a:lumMod val="75000"/>
                  </a:schemeClr>
                </a:solidFill>
                <a:latin typeface="Times New Roman" panose="02020603050405020304" pitchFamily="18" charset="0"/>
                <a:cs typeface="Times New Roman" panose="02020603050405020304" pitchFamily="18" charset="0"/>
              </a:rPr>
              <a:t> SEMESTER – CSE (AIML, DS, IOT, CYSC)</a:t>
            </a:r>
          </a:p>
          <a:p>
            <a:pPr algn="ctr"/>
            <a:endParaRPr lang="en-US" sz="32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9539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C060A-0F89-3752-E1FF-205FCDDA8BA6}"/>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A02F89DE-BAAC-98FE-9AF8-A842D1E1AC3D}"/>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68B9EED2-FA81-D4E3-2498-2968358F6CDD}"/>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18146CF2-A0D5-FCE8-8F06-83B6E04C7D5E}"/>
              </a:ext>
            </a:extLst>
          </p:cNvPr>
          <p:cNvSpPr txBox="1"/>
          <p:nvPr/>
        </p:nvSpPr>
        <p:spPr>
          <a:xfrm>
            <a:off x="1523998" y="1182185"/>
            <a:ext cx="10668002" cy="1015663"/>
          </a:xfrm>
          <a:prstGeom prst="rect">
            <a:avLst/>
          </a:prstGeom>
          <a:noFill/>
        </p:spPr>
        <p:txBody>
          <a:bodyPr wrap="square">
            <a:spAutoFit/>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chapter introduces the conceptual design and core functionality of a modern processor, focusing on the internal mechanisms that allow it to execute instructions, manage data, and communicate with the outside world.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713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9D49C-E717-A1E1-F947-0F11F01577D5}"/>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D72E4335-A0BF-6BAA-FA8D-01F757C74C65}"/>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B89B433C-50D2-C0E5-A3EF-5719314622CF}"/>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1101FD3-2796-9AFD-3A28-8823232FDC83}"/>
              </a:ext>
            </a:extLst>
          </p:cNvPr>
          <p:cNvSpPr txBox="1"/>
          <p:nvPr/>
        </p:nvSpPr>
        <p:spPr>
          <a:xfrm>
            <a:off x="1523998" y="1182185"/>
            <a:ext cx="10668002" cy="6647974"/>
          </a:xfrm>
          <a:prstGeom prst="rect">
            <a:avLst/>
          </a:prstGeom>
          <a:noFill/>
        </p:spPr>
        <p:txBody>
          <a:bodyPr wrap="square">
            <a:spAutoFit/>
          </a:bodyPr>
          <a:lstStyle/>
          <a:p>
            <a:r>
              <a:rPr lang="en-IN" b="1" u="sng" dirty="0">
                <a:latin typeface="Times New Roman" panose="02020603050405020304" pitchFamily="18" charset="0"/>
                <a:cs typeface="Times New Roman" panose="02020603050405020304" pitchFamily="18" charset="0"/>
              </a:rPr>
              <a:t>The following topics will be covered in this chapter:</a:t>
            </a:r>
            <a:endParaRPr lang="en-US" dirty="0">
              <a:latin typeface="Times New Roman" panose="02020603050405020304" pitchFamily="18" charset="0"/>
              <a:cs typeface="Times New Roman" panose="02020603050405020304" pitchFamily="18" charset="0"/>
            </a:endParaRPr>
          </a:p>
          <a:p>
            <a:pPr marL="0" indent="0">
              <a:buNone/>
            </a:pPr>
            <a:endParaRPr lang="en-IN" sz="2400" b="1" dirty="0">
              <a:solidFill>
                <a:srgbClr val="C0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simple processor</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instruction set </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Addressing modes</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Instruction categories </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Interrupt processing</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Input/output operations</a:t>
            </a:r>
          </a:p>
          <a:p>
            <a:pPr marL="342900" indent="-342900">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IN" sz="2400" b="1" dirty="0">
              <a:solidFill>
                <a:schemeClr val="accent5"/>
              </a:solidFill>
              <a:latin typeface="Times New Roman" panose="02020603050405020304" pitchFamily="18" charset="0"/>
              <a:cs typeface="Times New Roman" panose="02020603050405020304" pitchFamily="18" charset="0"/>
            </a:endParaRPr>
          </a:p>
          <a:p>
            <a:pPr marL="0" indent="0">
              <a:buNone/>
            </a:pPr>
            <a:endParaRPr lang="en-IN" sz="2400" b="1" dirty="0">
              <a:solidFill>
                <a:schemeClr val="accent5"/>
              </a:solidFill>
              <a:latin typeface="Times New Roman" panose="02020603050405020304" pitchFamily="18" charset="0"/>
              <a:cs typeface="Times New Roman" panose="02020603050405020304" pitchFamily="18" charset="0"/>
            </a:endParaRPr>
          </a:p>
          <a:p>
            <a:pPr marL="0" indent="0">
              <a:buNone/>
            </a:pPr>
            <a:endParaRPr lang="en-IN" sz="2400" b="1" dirty="0">
              <a:solidFill>
                <a:schemeClr val="accent5"/>
              </a:solidFill>
              <a:latin typeface="Times New Roman" panose="02020603050405020304" pitchFamily="18" charset="0"/>
              <a:cs typeface="Times New Roman" panose="02020603050405020304" pitchFamily="18" charset="0"/>
            </a:endParaRPr>
          </a:p>
          <a:p>
            <a:pPr marL="0" indent="0">
              <a:buNone/>
            </a:pPr>
            <a:endParaRPr lang="en-IN" sz="2400" b="1" dirty="0">
              <a:solidFill>
                <a:schemeClr val="accent5"/>
              </a:solidFill>
              <a:latin typeface="Times New Roman" panose="02020603050405020304" pitchFamily="18" charset="0"/>
              <a:cs typeface="Times New Roman" panose="02020603050405020304" pitchFamily="18" charset="0"/>
            </a:endParaRPr>
          </a:p>
          <a:p>
            <a:endParaRPr lang="en-IN" sz="2400" b="1" dirty="0">
              <a:solidFill>
                <a:schemeClr val="accent5"/>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8870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C438E-9191-4E6B-2FEB-1C40E2A564D3}"/>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FBF30872-E393-E9E8-BD2A-2AE6857F880D}"/>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71A3BCBD-151C-B76B-0BF7-0CDED2BC78A5}"/>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ACB176EA-ADB0-0AAA-E8F4-8A58F11F6BA5}"/>
              </a:ext>
            </a:extLst>
          </p:cNvPr>
          <p:cNvSpPr txBox="1"/>
          <p:nvPr/>
        </p:nvSpPr>
        <p:spPr>
          <a:xfrm>
            <a:off x="1523998" y="1182185"/>
            <a:ext cx="10668002" cy="707886"/>
          </a:xfrm>
          <a:prstGeom prst="rect">
            <a:avLst/>
          </a:prstGeom>
          <a:noFill/>
        </p:spPr>
        <p:txBody>
          <a:bodyPr wrap="square">
            <a:spAutoFit/>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Simple Processor </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53AAA38-46E7-328B-EF3D-8410ECC80583}"/>
              </a:ext>
            </a:extLst>
          </p:cNvPr>
          <p:cNvPicPr>
            <a:picLocks noChangeAspect="1"/>
          </p:cNvPicPr>
          <p:nvPr/>
        </p:nvPicPr>
        <p:blipFill>
          <a:blip r:embed="rId3"/>
          <a:stretch>
            <a:fillRect/>
          </a:stretch>
        </p:blipFill>
        <p:spPr>
          <a:xfrm>
            <a:off x="1323870" y="2498476"/>
            <a:ext cx="5545794" cy="3236563"/>
          </a:xfrm>
          <a:prstGeom prst="rect">
            <a:avLst/>
          </a:prstGeom>
        </p:spPr>
      </p:pic>
      <p:sp>
        <p:nvSpPr>
          <p:cNvPr id="6" name="Rectangle: Rounded Corners 5">
            <a:extLst>
              <a:ext uri="{FF2B5EF4-FFF2-40B4-BE49-F238E27FC236}">
                <a16:creationId xmlns:a16="http://schemas.microsoft.com/office/drawing/2014/main" id="{30D8731E-2D38-1673-0FCE-881EC56F256D}"/>
              </a:ext>
            </a:extLst>
          </p:cNvPr>
          <p:cNvSpPr/>
          <p:nvPr/>
        </p:nvSpPr>
        <p:spPr>
          <a:xfrm>
            <a:off x="1726791" y="2498476"/>
            <a:ext cx="2369976" cy="2799184"/>
          </a:xfrm>
          <a:prstGeom prst="roundRect">
            <a:avLst/>
          </a:prstGeom>
          <a:solidFill>
            <a:schemeClr val="accent1">
              <a:alpha val="0"/>
            </a:schemeClr>
          </a:solidFill>
          <a:ln w="539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75D93CE-46F8-2753-B1A5-3E4FC35A6ECB}"/>
              </a:ext>
            </a:extLst>
          </p:cNvPr>
          <p:cNvSpPr txBox="1"/>
          <p:nvPr/>
        </p:nvSpPr>
        <p:spPr>
          <a:xfrm>
            <a:off x="1425252" y="1949295"/>
            <a:ext cx="3361352" cy="369332"/>
          </a:xfrm>
          <a:prstGeom prst="rect">
            <a:avLst/>
          </a:prstGeom>
          <a:noFill/>
        </p:spPr>
        <p:txBody>
          <a:bodyPr wrap="square">
            <a:spAutoFit/>
          </a:bodyPr>
          <a:lstStyle/>
          <a:p>
            <a:r>
              <a:rPr lang="en-US" b="1" dirty="0">
                <a:solidFill>
                  <a:srgbClr val="C00000"/>
                </a:solidFill>
                <a:latin typeface="Times New Roman" panose="02020603050405020304" pitchFamily="18" charset="0"/>
                <a:cs typeface="Times New Roman" panose="02020603050405020304" pitchFamily="18" charset="0"/>
              </a:rPr>
              <a:t>Central Processing Unit (CPU)</a:t>
            </a:r>
          </a:p>
        </p:txBody>
      </p:sp>
    </p:spTree>
    <p:extLst>
      <p:ext uri="{BB962C8B-B14F-4D97-AF65-F5344CB8AC3E}">
        <p14:creationId xmlns:p14="http://schemas.microsoft.com/office/powerpoint/2010/main" val="119762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A74C4-F530-7619-D094-BD6AE8FA35CA}"/>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F6A9A04B-6633-9DC5-7BF4-00283B4A478F}"/>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E49135AA-B0ED-0367-4569-1910282A41EA}"/>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81A81B8-A518-4A0B-8C15-23C96295032E}"/>
              </a:ext>
            </a:extLst>
          </p:cNvPr>
          <p:cNvSpPr txBox="1"/>
          <p:nvPr/>
        </p:nvSpPr>
        <p:spPr>
          <a:xfrm>
            <a:off x="1523998" y="1182185"/>
            <a:ext cx="10668002" cy="5016758"/>
          </a:xfrm>
          <a:prstGeom prst="rect">
            <a:avLst/>
          </a:prstGeom>
          <a:noFill/>
        </p:spPr>
        <p:txBody>
          <a:bodyPr wrap="square">
            <a:spAutoFit/>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Simple Processor </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fundamental architectural units common to almost all CPUs:</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Control Unit :</a:t>
            </a:r>
          </a:p>
          <a:p>
            <a:pPr marL="1257300" lvl="2"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Acts as the brain of the processor. </a:t>
            </a:r>
          </a:p>
          <a:p>
            <a:pPr marL="1257300" lvl="2" indent="-34290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Fetches instructions from memory.</a:t>
            </a:r>
          </a:p>
          <a:p>
            <a:pPr marL="1257300" lvl="2" indent="-34290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Decodes the instructions to determine the required operation.</a:t>
            </a:r>
          </a:p>
          <a:p>
            <a:pPr marL="1257300" lvl="2" indent="-34290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Generates control signals to coordinate the ALU, registers, and other components to execute the instruction.</a:t>
            </a:r>
          </a:p>
          <a:p>
            <a:pPr marL="1257300" lvl="2" indent="-34290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Manages the sequence of execution.</a:t>
            </a:r>
          </a:p>
          <a:p>
            <a:pPr marL="1257300" lvl="2" indent="-34290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7700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8BC5-F83B-232F-1E1D-B35FD5CEBD69}"/>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D9053CB0-1512-8AA8-52DD-F66B822B28DF}"/>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023F9D59-C02A-2774-A7E1-5C9081371A3D}"/>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68716E9-92D8-F983-F7B3-BF517C339691}"/>
              </a:ext>
            </a:extLst>
          </p:cNvPr>
          <p:cNvSpPr txBox="1"/>
          <p:nvPr/>
        </p:nvSpPr>
        <p:spPr>
          <a:xfrm>
            <a:off x="1523998" y="1182185"/>
            <a:ext cx="10668002" cy="707886"/>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Control Unit :</a:t>
            </a:r>
          </a:p>
          <a:p>
            <a:pPr lvl="1"/>
            <a:r>
              <a:rPr lang="en-US" sz="20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F9F17475-C5B7-D579-2BFA-C61952F03FCF}"/>
              </a:ext>
            </a:extLst>
          </p:cNvPr>
          <p:cNvPicPr>
            <a:picLocks noChangeAspect="1"/>
          </p:cNvPicPr>
          <p:nvPr/>
        </p:nvPicPr>
        <p:blipFill>
          <a:blip r:embed="rId3"/>
          <a:stretch>
            <a:fillRect/>
          </a:stretch>
        </p:blipFill>
        <p:spPr>
          <a:xfrm>
            <a:off x="1810879" y="1682091"/>
            <a:ext cx="5143499" cy="4961305"/>
          </a:xfrm>
          <a:prstGeom prst="rect">
            <a:avLst/>
          </a:prstGeom>
        </p:spPr>
      </p:pic>
    </p:spTree>
    <p:extLst>
      <p:ext uri="{BB962C8B-B14F-4D97-AF65-F5344CB8AC3E}">
        <p14:creationId xmlns:p14="http://schemas.microsoft.com/office/powerpoint/2010/main" val="2882091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9C220-E805-F49F-E63B-754BF9C1810E}"/>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6055D65D-D92B-930D-47B4-45A89C196DE1}"/>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B6362A7C-8352-2B9B-06DB-70572072D0F6}"/>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10865BA-ACEE-029B-5938-7723383C4C9E}"/>
              </a:ext>
            </a:extLst>
          </p:cNvPr>
          <p:cNvSpPr txBox="1"/>
          <p:nvPr/>
        </p:nvSpPr>
        <p:spPr>
          <a:xfrm>
            <a:off x="1523998" y="1182185"/>
            <a:ext cx="10668002" cy="1569660"/>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Control Unit :</a:t>
            </a:r>
          </a:p>
          <a:p>
            <a:pPr marL="342900" indent="-342900">
              <a:buFont typeface="Wingdings" panose="05000000000000000000" pitchFamily="2" charset="2"/>
              <a:buChar char="q"/>
            </a:pPr>
            <a:endParaRPr lang="en-US" sz="2000" b="1" dirty="0">
              <a:solidFill>
                <a:srgbClr val="7030A0"/>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r>
              <a:rPr lang="en-US" b="1" dirty="0">
                <a:solidFill>
                  <a:srgbClr val="00B050"/>
                </a:solidFill>
                <a:latin typeface="Times New Roman" panose="02020603050405020304" pitchFamily="18" charset="0"/>
                <a:cs typeface="Times New Roman" panose="02020603050405020304" pitchFamily="18" charset="0"/>
              </a:rPr>
              <a:t> Executing an Instruction:</a:t>
            </a:r>
          </a:p>
          <a:p>
            <a:pPr marL="800100" lvl="1" indent="-342900">
              <a:buFont typeface="Wingdings" panose="05000000000000000000" pitchFamily="2" charset="2"/>
              <a:buChar char="v"/>
            </a:pPr>
            <a:endParaRPr lang="en-US" b="1" dirty="0">
              <a:solidFill>
                <a:srgbClr val="00B050"/>
              </a:solidFill>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89E73093-A27C-3066-DB20-310DB691558F}"/>
              </a:ext>
            </a:extLst>
          </p:cNvPr>
          <p:cNvPicPr>
            <a:picLocks noChangeAspect="1"/>
          </p:cNvPicPr>
          <p:nvPr/>
        </p:nvPicPr>
        <p:blipFill>
          <a:blip r:embed="rId3"/>
          <a:stretch>
            <a:fillRect/>
          </a:stretch>
        </p:blipFill>
        <p:spPr>
          <a:xfrm>
            <a:off x="1212186" y="2751375"/>
            <a:ext cx="5843510" cy="2709561"/>
          </a:xfrm>
          <a:prstGeom prst="rect">
            <a:avLst/>
          </a:prstGeom>
        </p:spPr>
      </p:pic>
    </p:spTree>
    <p:extLst>
      <p:ext uri="{BB962C8B-B14F-4D97-AF65-F5344CB8AC3E}">
        <p14:creationId xmlns:p14="http://schemas.microsoft.com/office/powerpoint/2010/main" val="2748986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C62D8-7C2F-B8F8-C2E0-CBC2A3069511}"/>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6734D682-2C62-5551-E221-C8B8328EAF16}"/>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8568F1D3-EC80-971B-332B-CE774280C2C2}"/>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D71EAFE-13C6-9E91-1875-5DCB3BAEB217}"/>
              </a:ext>
            </a:extLst>
          </p:cNvPr>
          <p:cNvSpPr txBox="1"/>
          <p:nvPr/>
        </p:nvSpPr>
        <p:spPr>
          <a:xfrm>
            <a:off x="1523998" y="1182185"/>
            <a:ext cx="10668002" cy="3139321"/>
          </a:xfrm>
          <a:prstGeom prst="rect">
            <a:avLst/>
          </a:prstGeom>
          <a:noFill/>
        </p:spPr>
        <p:txBody>
          <a:bodyPr wrap="square">
            <a:spAutoFit/>
          </a:bodyPr>
          <a:lstStyle/>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Arithmetic Logic Unit (ALU) :</a:t>
            </a:r>
          </a:p>
          <a:p>
            <a:pPr marL="1257300" lvl="2"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execution unit for all computational tasks.</a:t>
            </a:r>
          </a:p>
          <a:p>
            <a:pPr marL="1257300" lvl="2" indent="-34290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Performs Arithmetic Operations (addition, subtraction, multiplication, division).</a:t>
            </a:r>
          </a:p>
          <a:p>
            <a:pPr marL="1257300" lvl="2" indent="-34290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Performs Logical Operations (AND, OR, NOT, XOR).</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000" b="1" dirty="0">
              <a:solidFill>
                <a:srgbClr val="7030A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000" b="1" dirty="0">
              <a:solidFill>
                <a:srgbClr val="7030A0"/>
              </a:solidFill>
              <a:latin typeface="Times New Roman" panose="02020603050405020304" pitchFamily="18" charset="0"/>
              <a:cs typeface="Times New Roman" panose="02020603050405020304" pitchFamily="18" charset="0"/>
            </a:endParaRPr>
          </a:p>
          <a:p>
            <a:pPr lvl="1"/>
            <a:endParaRPr lang="en-US" b="1" dirty="0">
              <a:solidFill>
                <a:srgbClr val="7030A0"/>
              </a:solidFill>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11560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9FBF0-6C2A-3A93-3F8B-1FDC36ED0201}"/>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FF6EF014-AF44-01A5-8DEB-F93627F334E2}"/>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A622E4F1-2578-F7C0-DBE8-D3392EDE220C}"/>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803E2F5-187C-F47E-58DE-49BFCE788D92}"/>
              </a:ext>
            </a:extLst>
          </p:cNvPr>
          <p:cNvSpPr txBox="1"/>
          <p:nvPr/>
        </p:nvSpPr>
        <p:spPr>
          <a:xfrm>
            <a:off x="1523998" y="1182185"/>
            <a:ext cx="10668002" cy="2215991"/>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ALU Unit :</a:t>
            </a:r>
          </a:p>
          <a:p>
            <a:pPr marL="342900" indent="-342900">
              <a:buFont typeface="Wingdings" panose="05000000000000000000" pitchFamily="2" charset="2"/>
              <a:buChar char="q"/>
            </a:pPr>
            <a:endParaRPr lang="en-US" sz="2000" b="1" dirty="0">
              <a:solidFill>
                <a:srgbClr val="7030A0"/>
              </a:solidFill>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Example: ADC  and SBC instructions</a:t>
            </a:r>
            <a:r>
              <a:rPr lang="en-US" sz="2000" b="1" dirty="0">
                <a:solidFill>
                  <a:srgbClr val="7030A0"/>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q"/>
            </a:pPr>
            <a:endParaRPr lang="en-US" sz="2000" b="1" dirty="0">
              <a:solidFill>
                <a:srgbClr val="7030A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000" b="1" dirty="0">
              <a:solidFill>
                <a:srgbClr val="7030A0"/>
              </a:solidFill>
              <a:latin typeface="Times New Roman" panose="02020603050405020304" pitchFamily="18" charset="0"/>
              <a:cs typeface="Times New Roman" panose="02020603050405020304" pitchFamily="18" charset="0"/>
            </a:endParaRPr>
          </a:p>
          <a:p>
            <a:pPr lvl="1"/>
            <a:endParaRPr lang="en-US" b="1" dirty="0">
              <a:solidFill>
                <a:srgbClr val="7030A0"/>
              </a:solidFill>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94A36BCF-6FDE-AB22-B3B6-D8326401E1FD}"/>
              </a:ext>
            </a:extLst>
          </p:cNvPr>
          <p:cNvPicPr>
            <a:picLocks noChangeAspect="1"/>
          </p:cNvPicPr>
          <p:nvPr/>
        </p:nvPicPr>
        <p:blipFill>
          <a:blip r:embed="rId3"/>
          <a:stretch>
            <a:fillRect/>
          </a:stretch>
        </p:blipFill>
        <p:spPr>
          <a:xfrm>
            <a:off x="1121007" y="3061390"/>
            <a:ext cx="5642724" cy="2014464"/>
          </a:xfrm>
          <a:prstGeom prst="rect">
            <a:avLst/>
          </a:prstGeom>
        </p:spPr>
      </p:pic>
    </p:spTree>
    <p:extLst>
      <p:ext uri="{BB962C8B-B14F-4D97-AF65-F5344CB8AC3E}">
        <p14:creationId xmlns:p14="http://schemas.microsoft.com/office/powerpoint/2010/main" val="4265343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39B2B-0D57-6BE8-F884-F012392C6A03}"/>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5FB6E601-35E1-0AAD-E2B7-B5A120B761DA}"/>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28F6DE0C-DD85-4BB5-DA15-70E44C86351C}"/>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60D6297-D289-3D82-9822-A76331D4CE96}"/>
              </a:ext>
            </a:extLst>
          </p:cNvPr>
          <p:cNvSpPr txBox="1"/>
          <p:nvPr/>
        </p:nvSpPr>
        <p:spPr>
          <a:xfrm>
            <a:off x="1523998" y="1182185"/>
            <a:ext cx="10668002" cy="2923877"/>
          </a:xfrm>
          <a:prstGeom prst="rect">
            <a:avLst/>
          </a:prstGeom>
          <a:noFill/>
        </p:spPr>
        <p:txBody>
          <a:bodyPr wrap="square">
            <a:spAutoFit/>
          </a:bodyPr>
          <a:lstStyle/>
          <a:p>
            <a:pPr marL="342900" indent="-3429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Registers:</a:t>
            </a:r>
          </a:p>
          <a:p>
            <a:pPr marL="800100" lvl="1"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Small, ultra-fast storage locations located inside the CPU.</a:t>
            </a:r>
          </a:p>
          <a:p>
            <a:pPr marL="800100" lvl="1"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They hold data, addresses, and status information actively being used by the current instruction.</a:t>
            </a:r>
          </a:p>
          <a:p>
            <a:pPr marL="800100" lvl="1" indent="-342900" algn="just">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Types include general-purpose registers (for data manipulation), program counter (holds the address of the next instruction), and status/flag registers (reflect results of operations).</a:t>
            </a: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809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A089-A56E-B7E5-1115-4B2D23EDAD12}"/>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8F380A86-457C-1B68-F880-78D7709BFEB3}"/>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52742F6C-2CBA-F30A-D83B-B0A3D5B7457C}"/>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FC000DDE-B770-02D4-37B3-7CB73B255D34}"/>
              </a:ext>
            </a:extLst>
          </p:cNvPr>
          <p:cNvSpPr txBox="1"/>
          <p:nvPr/>
        </p:nvSpPr>
        <p:spPr>
          <a:xfrm>
            <a:off x="1523998" y="1182185"/>
            <a:ext cx="10668002" cy="1538883"/>
          </a:xfrm>
          <a:prstGeom prst="rect">
            <a:avLst/>
          </a:prstGeom>
          <a:noFill/>
        </p:spPr>
        <p:txBody>
          <a:bodyPr wrap="square">
            <a:spAutoFit/>
          </a:bodyPr>
          <a:lstStyle/>
          <a:p>
            <a:pPr marL="342900" indent="-342900">
              <a:buFont typeface="Wingdings" panose="05000000000000000000" pitchFamily="2" charset="2"/>
              <a:buChar char="q"/>
            </a:pPr>
            <a:r>
              <a:rPr lang="es-ES" sz="2000" b="1" dirty="0" err="1">
                <a:solidFill>
                  <a:srgbClr val="7030A0"/>
                </a:solidFill>
                <a:latin typeface="Times New Roman" panose="02020603050405020304" pitchFamily="18" charset="0"/>
                <a:cs typeface="Times New Roman" panose="02020603050405020304" pitchFamily="18" charset="0"/>
              </a:rPr>
              <a:t>Registers</a:t>
            </a:r>
            <a:r>
              <a:rPr lang="es-ES" sz="2000" b="1" dirty="0">
                <a:solidFill>
                  <a:srgbClr val="7030A0"/>
                </a:solidFill>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v"/>
            </a:pPr>
            <a:r>
              <a:rPr lang="es-ES" b="1" dirty="0">
                <a:solidFill>
                  <a:srgbClr val="0070C0"/>
                </a:solidFill>
                <a:latin typeface="Times New Roman" panose="02020603050405020304" pitchFamily="18" charset="0"/>
                <a:cs typeface="Times New Roman" panose="02020603050405020304" pitchFamily="18" charset="0"/>
              </a:rPr>
              <a:t>RISC </a:t>
            </a:r>
            <a:r>
              <a:rPr lang="es-ES" b="1" dirty="0" err="1">
                <a:solidFill>
                  <a:srgbClr val="0070C0"/>
                </a:solidFill>
                <a:latin typeface="Times New Roman" panose="02020603050405020304" pitchFamily="18" charset="0"/>
                <a:cs typeface="Times New Roman" panose="02020603050405020304" pitchFamily="18" charset="0"/>
              </a:rPr>
              <a:t>Architecture</a:t>
            </a:r>
            <a:r>
              <a:rPr lang="es-ES" b="1" dirty="0">
                <a:solidFill>
                  <a:srgbClr val="0070C0"/>
                </a:solidFill>
                <a:latin typeface="Times New Roman" panose="02020603050405020304" pitchFamily="18" charset="0"/>
                <a:cs typeface="Times New Roman" panose="02020603050405020304" pitchFamily="18" charset="0"/>
              </a:rPr>
              <a:t> vs CISC </a:t>
            </a:r>
            <a:r>
              <a:rPr lang="es-ES" b="1" dirty="0" err="1">
                <a:solidFill>
                  <a:srgbClr val="0070C0"/>
                </a:solidFill>
                <a:latin typeface="Times New Roman" panose="02020603050405020304" pitchFamily="18" charset="0"/>
                <a:cs typeface="Times New Roman" panose="02020603050405020304" pitchFamily="18" charset="0"/>
              </a:rPr>
              <a:t>Architecture</a:t>
            </a:r>
            <a:r>
              <a:rPr lang="en-US" b="1" dirty="0">
                <a:solidFill>
                  <a:srgbClr val="0070C0"/>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q"/>
            </a:pPr>
            <a:endParaRPr lang="en-US" b="1" dirty="0">
              <a:solidFill>
                <a:srgbClr val="0070C0"/>
              </a:solidFill>
              <a:latin typeface="Times New Roman" panose="02020603050405020304" pitchFamily="18" charset="0"/>
              <a:cs typeface="Times New Roman" panose="02020603050405020304" pitchFamily="18" charset="0"/>
            </a:endParaRPr>
          </a:p>
          <a:p>
            <a:pPr lvl="1"/>
            <a:endParaRPr lang="en-US" b="1" dirty="0">
              <a:solidFill>
                <a:srgbClr val="7030A0"/>
              </a:solidFill>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 </a:t>
            </a:r>
          </a:p>
        </p:txBody>
      </p:sp>
      <p:graphicFrame>
        <p:nvGraphicFramePr>
          <p:cNvPr id="6" name="Table 5">
            <a:extLst>
              <a:ext uri="{FF2B5EF4-FFF2-40B4-BE49-F238E27FC236}">
                <a16:creationId xmlns:a16="http://schemas.microsoft.com/office/drawing/2014/main" id="{A20188E7-6A12-1240-9665-A616802F1CF1}"/>
              </a:ext>
            </a:extLst>
          </p:cNvPr>
          <p:cNvGraphicFramePr>
            <a:graphicFrameLocks noGrp="1"/>
          </p:cNvGraphicFramePr>
          <p:nvPr>
            <p:extLst>
              <p:ext uri="{D42A27DB-BD31-4B8C-83A1-F6EECF244321}">
                <p14:modId xmlns:p14="http://schemas.microsoft.com/office/powerpoint/2010/main" val="524267759"/>
              </p:ext>
            </p:extLst>
          </p:nvPr>
        </p:nvGraphicFramePr>
        <p:xfrm>
          <a:off x="2589501" y="2285999"/>
          <a:ext cx="7543800" cy="4572001"/>
        </p:xfrm>
        <a:graphic>
          <a:graphicData uri="http://schemas.openxmlformats.org/drawingml/2006/table">
            <a:tbl>
              <a:tblPr/>
              <a:tblGrid>
                <a:gridCol w="38100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307771">
                <a:tc>
                  <a:txBody>
                    <a:bodyPr/>
                    <a:lstStyle/>
                    <a:p>
                      <a:pPr algn="ctr" fontAlgn="t"/>
                      <a:r>
                        <a:rPr lang="en-IN" sz="1600" b="1" dirty="0">
                          <a:effectLst/>
                          <a:latin typeface="Calibri" pitchFamily="34" charset="0"/>
                          <a:cs typeface="Calibri" pitchFamily="34" charset="0"/>
                        </a:rPr>
                        <a:t>RISC</a:t>
                      </a:r>
                    </a:p>
                  </a:txBody>
                  <a:tcPr marL="22785" marR="22785" marT="22785" marB="22785">
                    <a:lnL>
                      <a:noFill/>
                    </a:lnL>
                    <a:lnR>
                      <a:noFill/>
                    </a:lnR>
                    <a:lnT>
                      <a:noFill/>
                    </a:lnT>
                    <a:lnB>
                      <a:noFill/>
                    </a:lnB>
                    <a:solidFill>
                      <a:srgbClr val="00B050">
                        <a:alpha val="43000"/>
                      </a:srgbClr>
                    </a:solidFill>
                  </a:tcPr>
                </a:tc>
                <a:tc>
                  <a:txBody>
                    <a:bodyPr/>
                    <a:lstStyle/>
                    <a:p>
                      <a:pPr algn="ctr" fontAlgn="t"/>
                      <a:r>
                        <a:rPr lang="en-IN" sz="1600" b="1">
                          <a:effectLst/>
                          <a:latin typeface="Calibri" pitchFamily="34" charset="0"/>
                          <a:cs typeface="Calibri" pitchFamily="34" charset="0"/>
                        </a:rPr>
                        <a:t>CISC</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0"/>
                  </a:ext>
                </a:extLst>
              </a:tr>
              <a:tr h="565188">
                <a:tc>
                  <a:txBody>
                    <a:bodyPr/>
                    <a:lstStyle/>
                    <a:p>
                      <a:pPr algn="l" fontAlgn="t"/>
                      <a:r>
                        <a:rPr lang="en-US" sz="1600" dirty="0">
                          <a:effectLst/>
                          <a:latin typeface="Calibri" pitchFamily="34" charset="0"/>
                          <a:cs typeface="Calibri" pitchFamily="34" charset="0"/>
                        </a:rPr>
                        <a:t>It stands for Reduced Instruction Set Computer.</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It stands for Complex Instruction Set Computer.</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1"/>
                  </a:ext>
                </a:extLst>
              </a:tr>
              <a:tr h="769805">
                <a:tc>
                  <a:txBody>
                    <a:bodyPr/>
                    <a:lstStyle/>
                    <a:p>
                      <a:pPr algn="l" fontAlgn="t"/>
                      <a:r>
                        <a:rPr lang="en-US" sz="1600" dirty="0">
                          <a:effectLst/>
                          <a:latin typeface="Calibri" pitchFamily="34" charset="0"/>
                          <a:cs typeface="Calibri" pitchFamily="34" charset="0"/>
                        </a:rPr>
                        <a:t>It is a microprocessor architecture that uses small instruction set of uniform length.</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This offers hundreds of instructions of different sizes to the users.</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2"/>
                  </a:ext>
                </a:extLst>
              </a:tr>
              <a:tr h="1000822">
                <a:tc>
                  <a:txBody>
                    <a:bodyPr/>
                    <a:lstStyle/>
                    <a:p>
                      <a:pPr algn="l" fontAlgn="t"/>
                      <a:r>
                        <a:rPr lang="en-US" sz="1600" dirty="0">
                          <a:effectLst/>
                          <a:latin typeface="Calibri" pitchFamily="34" charset="0"/>
                          <a:cs typeface="Calibri" pitchFamily="34" charset="0"/>
                        </a:rPr>
                        <a:t>These simple instructions are executed in </a:t>
                      </a:r>
                    </a:p>
                    <a:p>
                      <a:pPr algn="l" fontAlgn="t"/>
                      <a:r>
                        <a:rPr lang="en-US" sz="1600" dirty="0">
                          <a:effectLst/>
                          <a:latin typeface="Calibri" pitchFamily="34" charset="0"/>
                          <a:cs typeface="Calibri" pitchFamily="34" charset="0"/>
                        </a:rPr>
                        <a:t>one clock cycle.</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a:effectLst/>
                          <a:latin typeface="Calibri" pitchFamily="34" charset="0"/>
                          <a:cs typeface="Calibri" pitchFamily="34" charset="0"/>
                        </a:rPr>
                        <a:t>This architecture has a set of special purpose circuits which help execute the instructions at a high speed.</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3"/>
                  </a:ext>
                </a:extLst>
              </a:tr>
              <a:tr h="769805">
                <a:tc>
                  <a:txBody>
                    <a:bodyPr/>
                    <a:lstStyle/>
                    <a:p>
                      <a:pPr algn="l" fontAlgn="t"/>
                      <a:r>
                        <a:rPr lang="en-US" sz="1600">
                          <a:effectLst/>
                          <a:latin typeface="Calibri" pitchFamily="34" charset="0"/>
                          <a:cs typeface="Calibri" pitchFamily="34" charset="0"/>
                        </a:rPr>
                        <a:t>These chips are relatively simple to design.</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These chips are complex to design.</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4"/>
                  </a:ext>
                </a:extLst>
              </a:tr>
              <a:tr h="538787">
                <a:tc>
                  <a:txBody>
                    <a:bodyPr/>
                    <a:lstStyle/>
                    <a:p>
                      <a:pPr algn="l" fontAlgn="t"/>
                      <a:r>
                        <a:rPr lang="en-IN" sz="1600">
                          <a:effectLst/>
                          <a:latin typeface="Calibri" pitchFamily="34" charset="0"/>
                          <a:cs typeface="Calibri" pitchFamily="34" charset="0"/>
                        </a:rPr>
                        <a:t>They are inexpensive.</a:t>
                      </a:r>
                    </a:p>
                  </a:txBody>
                  <a:tcPr marL="22785" marR="22785" marT="22785" marB="22785">
                    <a:lnL>
                      <a:noFill/>
                    </a:lnL>
                    <a:lnR>
                      <a:noFill/>
                    </a:lnR>
                    <a:lnT>
                      <a:noFill/>
                    </a:lnT>
                    <a:lnB>
                      <a:noFill/>
                    </a:lnB>
                    <a:solidFill>
                      <a:srgbClr val="00B050">
                        <a:alpha val="43000"/>
                      </a:srgbClr>
                    </a:solidFill>
                  </a:tcPr>
                </a:tc>
                <a:tc>
                  <a:txBody>
                    <a:bodyPr/>
                    <a:lstStyle/>
                    <a:p>
                      <a:pPr algn="l" fontAlgn="t"/>
                      <a:r>
                        <a:rPr lang="en-IN" sz="1600" dirty="0">
                          <a:effectLst/>
                          <a:latin typeface="Calibri" pitchFamily="34" charset="0"/>
                          <a:cs typeface="Calibri" pitchFamily="34" charset="0"/>
                        </a:rPr>
                        <a:t>They are relatively expensive.</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5"/>
                  </a:ext>
                </a:extLst>
              </a:tr>
              <a:tr h="619823">
                <a:tc>
                  <a:txBody>
                    <a:bodyPr/>
                    <a:lstStyle/>
                    <a:p>
                      <a:pPr algn="l" fontAlgn="t"/>
                      <a:r>
                        <a:rPr lang="en-US" sz="1600" dirty="0">
                          <a:effectLst/>
                          <a:latin typeface="Calibri" pitchFamily="34" charset="0"/>
                          <a:cs typeface="Calibri" pitchFamily="34" charset="0"/>
                        </a:rPr>
                        <a:t>More numbers of registers</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Less number of registers</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34811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2B27A-F05C-7F52-D35C-1998EB044D9B}"/>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9AD3DA68-F700-B2D9-F0C2-9EAE2AFAE012}"/>
              </a:ext>
            </a:extLst>
          </p:cNvPr>
          <p:cNvPicPr/>
          <p:nvPr/>
        </p:nvPicPr>
        <p:blipFill>
          <a:blip r:embed="rId3"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F683C76D-3FEB-F5D9-B470-04E1689081B5}"/>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03674634-CF49-6F07-C0F2-3D3ECEB77CCA}"/>
              </a:ext>
            </a:extLst>
          </p:cNvPr>
          <p:cNvSpPr txBox="1"/>
          <p:nvPr/>
        </p:nvSpPr>
        <p:spPr>
          <a:xfrm>
            <a:off x="1523998" y="1182185"/>
            <a:ext cx="10668002" cy="1538883"/>
          </a:xfrm>
          <a:prstGeom prst="rect">
            <a:avLst/>
          </a:prstGeom>
          <a:noFill/>
        </p:spPr>
        <p:txBody>
          <a:bodyPr wrap="square">
            <a:spAutoFit/>
          </a:bodyPr>
          <a:lstStyle/>
          <a:p>
            <a:pPr marL="342900" indent="-342900">
              <a:buFont typeface="Wingdings" panose="05000000000000000000" pitchFamily="2" charset="2"/>
              <a:buChar char="q"/>
            </a:pPr>
            <a:r>
              <a:rPr lang="es-ES" sz="2000" b="1" dirty="0" err="1">
                <a:solidFill>
                  <a:srgbClr val="7030A0"/>
                </a:solidFill>
                <a:latin typeface="Times New Roman" panose="02020603050405020304" pitchFamily="18" charset="0"/>
                <a:cs typeface="Times New Roman" panose="02020603050405020304" pitchFamily="18" charset="0"/>
              </a:rPr>
              <a:t>Registers</a:t>
            </a:r>
            <a:r>
              <a:rPr lang="es-ES" sz="2000" b="1" dirty="0">
                <a:solidFill>
                  <a:srgbClr val="7030A0"/>
                </a:solidFill>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v"/>
            </a:pPr>
            <a:r>
              <a:rPr lang="es-ES" b="1" dirty="0">
                <a:solidFill>
                  <a:srgbClr val="0070C0"/>
                </a:solidFill>
                <a:latin typeface="Times New Roman" panose="02020603050405020304" pitchFamily="18" charset="0"/>
                <a:cs typeface="Times New Roman" panose="02020603050405020304" pitchFamily="18" charset="0"/>
              </a:rPr>
              <a:t>RISC </a:t>
            </a:r>
            <a:r>
              <a:rPr lang="es-ES" b="1" dirty="0" err="1">
                <a:solidFill>
                  <a:srgbClr val="0070C0"/>
                </a:solidFill>
                <a:latin typeface="Times New Roman" panose="02020603050405020304" pitchFamily="18" charset="0"/>
                <a:cs typeface="Times New Roman" panose="02020603050405020304" pitchFamily="18" charset="0"/>
              </a:rPr>
              <a:t>Architecture</a:t>
            </a:r>
            <a:r>
              <a:rPr lang="es-ES" b="1" dirty="0">
                <a:solidFill>
                  <a:srgbClr val="0070C0"/>
                </a:solidFill>
                <a:latin typeface="Times New Roman" panose="02020603050405020304" pitchFamily="18" charset="0"/>
                <a:cs typeface="Times New Roman" panose="02020603050405020304" pitchFamily="18" charset="0"/>
              </a:rPr>
              <a:t> vs CISC </a:t>
            </a:r>
            <a:r>
              <a:rPr lang="es-ES" b="1" dirty="0" err="1">
                <a:solidFill>
                  <a:srgbClr val="0070C0"/>
                </a:solidFill>
                <a:latin typeface="Times New Roman" panose="02020603050405020304" pitchFamily="18" charset="0"/>
                <a:cs typeface="Times New Roman" panose="02020603050405020304" pitchFamily="18" charset="0"/>
              </a:rPr>
              <a:t>Architecture</a:t>
            </a:r>
            <a:r>
              <a:rPr lang="en-US" b="1" dirty="0">
                <a:solidFill>
                  <a:srgbClr val="0070C0"/>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q"/>
            </a:pPr>
            <a:endParaRPr lang="en-US" b="1" dirty="0">
              <a:solidFill>
                <a:srgbClr val="0070C0"/>
              </a:solidFill>
              <a:latin typeface="Times New Roman" panose="02020603050405020304" pitchFamily="18" charset="0"/>
              <a:cs typeface="Times New Roman" panose="02020603050405020304" pitchFamily="18" charset="0"/>
            </a:endParaRPr>
          </a:p>
          <a:p>
            <a:pPr lvl="1"/>
            <a:endParaRPr lang="en-US" b="1" dirty="0">
              <a:solidFill>
                <a:srgbClr val="7030A0"/>
              </a:solidFill>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2C61CDFA-A034-1D36-A8D7-2FA42634D05B}"/>
              </a:ext>
            </a:extLst>
          </p:cNvPr>
          <p:cNvGraphicFramePr>
            <a:graphicFrameLocks noGrp="1"/>
          </p:cNvGraphicFramePr>
          <p:nvPr>
            <p:extLst>
              <p:ext uri="{D42A27DB-BD31-4B8C-83A1-F6EECF244321}">
                <p14:modId xmlns:p14="http://schemas.microsoft.com/office/powerpoint/2010/main" val="1455722740"/>
              </p:ext>
            </p:extLst>
          </p:nvPr>
        </p:nvGraphicFramePr>
        <p:xfrm>
          <a:off x="2567473" y="2698219"/>
          <a:ext cx="7543800" cy="4159781"/>
        </p:xfrm>
        <a:graphic>
          <a:graphicData uri="http://schemas.openxmlformats.org/drawingml/2006/table">
            <a:tbl>
              <a:tblPr/>
              <a:tblGrid>
                <a:gridCol w="38100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307771">
                <a:tc>
                  <a:txBody>
                    <a:bodyPr/>
                    <a:lstStyle/>
                    <a:p>
                      <a:pPr algn="ctr" fontAlgn="t"/>
                      <a:r>
                        <a:rPr lang="en-IN" sz="1600" b="1" dirty="0">
                          <a:effectLst/>
                          <a:latin typeface="Calibri" pitchFamily="34" charset="0"/>
                          <a:cs typeface="Calibri" pitchFamily="34" charset="0"/>
                        </a:rPr>
                        <a:t>RISC</a:t>
                      </a:r>
                    </a:p>
                  </a:txBody>
                  <a:tcPr marL="22785" marR="22785" marT="22785" marB="22785">
                    <a:lnL>
                      <a:noFill/>
                    </a:lnL>
                    <a:lnR>
                      <a:noFill/>
                    </a:lnR>
                    <a:lnT>
                      <a:noFill/>
                    </a:lnT>
                    <a:lnB>
                      <a:noFill/>
                    </a:lnB>
                    <a:solidFill>
                      <a:srgbClr val="00B050">
                        <a:alpha val="43000"/>
                      </a:srgbClr>
                    </a:solidFill>
                  </a:tcPr>
                </a:tc>
                <a:tc>
                  <a:txBody>
                    <a:bodyPr/>
                    <a:lstStyle/>
                    <a:p>
                      <a:pPr algn="ctr" fontAlgn="t"/>
                      <a:r>
                        <a:rPr lang="en-IN" sz="1600" b="1">
                          <a:effectLst/>
                          <a:latin typeface="Calibri" pitchFamily="34" charset="0"/>
                          <a:cs typeface="Calibri" pitchFamily="34" charset="0"/>
                        </a:rPr>
                        <a:t>CISC</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0"/>
                  </a:ext>
                </a:extLst>
              </a:tr>
              <a:tr h="565188">
                <a:tc>
                  <a:txBody>
                    <a:bodyPr/>
                    <a:lstStyle/>
                    <a:p>
                      <a:pPr algn="l" fontAlgn="t"/>
                      <a:r>
                        <a:rPr lang="en-US" sz="1600" dirty="0">
                          <a:effectLst/>
                          <a:latin typeface="Calibri" pitchFamily="34" charset="0"/>
                          <a:cs typeface="Calibri" pitchFamily="34" charset="0"/>
                        </a:rPr>
                        <a:t>Most of the operations are based on registers which reduces the need to access memory</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Most of the operations are memory based</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3711867515"/>
                  </a:ext>
                </a:extLst>
              </a:tr>
              <a:tr h="565188">
                <a:tc>
                  <a:txBody>
                    <a:bodyPr/>
                    <a:lstStyle/>
                    <a:p>
                      <a:pPr algn="l" fontAlgn="t"/>
                      <a:r>
                        <a:rPr lang="en-US" sz="1600" dirty="0">
                          <a:effectLst/>
                          <a:latin typeface="Calibri" pitchFamily="34" charset="0"/>
                          <a:cs typeface="Calibri" pitchFamily="34" charset="0"/>
                        </a:rPr>
                        <a:t>It has less number of instructions.</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It has more number of instructions.</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1"/>
                  </a:ext>
                </a:extLst>
              </a:tr>
              <a:tr h="769805">
                <a:tc>
                  <a:txBody>
                    <a:bodyPr/>
                    <a:lstStyle/>
                    <a:p>
                      <a:pPr algn="l" fontAlgn="t"/>
                      <a:r>
                        <a:rPr lang="en-US" sz="1600" dirty="0">
                          <a:effectLst/>
                          <a:latin typeface="Calibri" pitchFamily="34" charset="0"/>
                          <a:cs typeface="Calibri" pitchFamily="34" charset="0"/>
                        </a:rPr>
                        <a:t>It has fixed-length encodings for instructions.</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It has variable-length encodings of instructions.</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2"/>
                  </a:ext>
                </a:extLst>
              </a:tr>
              <a:tr h="643237">
                <a:tc>
                  <a:txBody>
                    <a:bodyPr/>
                    <a:lstStyle/>
                    <a:p>
                      <a:pPr algn="l" fontAlgn="t"/>
                      <a:r>
                        <a:rPr lang="en-US" sz="1600" dirty="0">
                          <a:effectLst/>
                          <a:latin typeface="Calibri" pitchFamily="34" charset="0"/>
                          <a:cs typeface="Calibri" pitchFamily="34" charset="0"/>
                        </a:rPr>
                        <a:t>Simple addressing formats are supported.</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The instructions interact with memory using complex addressing modes.</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3"/>
                  </a:ext>
                </a:extLst>
              </a:tr>
              <a:tr h="769805">
                <a:tc>
                  <a:txBody>
                    <a:bodyPr/>
                    <a:lstStyle/>
                    <a:p>
                      <a:pPr algn="l" fontAlgn="t"/>
                      <a:r>
                        <a:rPr lang="en-IN" sz="1600" dirty="0">
                          <a:effectLst/>
                          <a:latin typeface="Calibri" pitchFamily="34" charset="0"/>
                          <a:cs typeface="Calibri" pitchFamily="34" charset="0"/>
                        </a:rPr>
                        <a:t>Separate LOAD/Store instructions are used to access memory operand.</a:t>
                      </a:r>
                    </a:p>
                  </a:txBody>
                  <a:tcPr marL="22785" marR="22785" marT="22785" marB="22785">
                    <a:lnL>
                      <a:noFill/>
                    </a:lnL>
                    <a:lnR>
                      <a:noFill/>
                    </a:lnR>
                    <a:lnT>
                      <a:noFill/>
                    </a:lnT>
                    <a:lnB>
                      <a:noFill/>
                    </a:lnB>
                    <a:solidFill>
                      <a:srgbClr val="00B050">
                        <a:alpha val="43000"/>
                      </a:srgbClr>
                    </a:solidFill>
                  </a:tcPr>
                </a:tc>
                <a:tc>
                  <a:txBody>
                    <a:bodyPr/>
                    <a:lstStyle/>
                    <a:p>
                      <a:pPr algn="l" fontAlgn="t"/>
                      <a:r>
                        <a:rPr lang="en-US" sz="1600" dirty="0">
                          <a:effectLst/>
                          <a:latin typeface="Calibri" pitchFamily="34" charset="0"/>
                          <a:cs typeface="Calibri" pitchFamily="34" charset="0"/>
                        </a:rPr>
                        <a:t>No Separate LOAD/STORE instructions are available</a:t>
                      </a: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4"/>
                  </a:ext>
                </a:extLst>
              </a:tr>
              <a:tr h="538787">
                <a:tc>
                  <a:txBody>
                    <a:bodyPr/>
                    <a:lstStyle/>
                    <a:p>
                      <a:pPr marL="0" marR="0" lvl="0" indent="0" algn="l" defTabSz="914295" rtl="0" eaLnBrk="1" fontAlgn="t" latinLnBrk="0" hangingPunct="1">
                        <a:lnSpc>
                          <a:spcPct val="100000"/>
                        </a:lnSpc>
                        <a:spcBef>
                          <a:spcPts val="0"/>
                        </a:spcBef>
                        <a:spcAft>
                          <a:spcPts val="0"/>
                        </a:spcAft>
                        <a:buClrTx/>
                        <a:buSzTx/>
                        <a:buFontTx/>
                        <a:buNone/>
                        <a:tabLst/>
                        <a:defRPr/>
                      </a:pPr>
                      <a:r>
                        <a:rPr lang="en-US" sz="1600" dirty="0">
                          <a:effectLst/>
                          <a:latin typeface="Calibri" pitchFamily="34" charset="0"/>
                          <a:cs typeface="Calibri" pitchFamily="34" charset="0"/>
                        </a:rPr>
                        <a:t>Examples of RISC chips include ARM, RISC-V</a:t>
                      </a:r>
                    </a:p>
                    <a:p>
                      <a:pPr algn="l" fontAlgn="t"/>
                      <a:endParaRPr lang="en-US" sz="1600" dirty="0">
                        <a:effectLst/>
                        <a:latin typeface="Calibri" pitchFamily="34" charset="0"/>
                        <a:cs typeface="Calibri" pitchFamily="34" charset="0"/>
                      </a:endParaRPr>
                    </a:p>
                  </a:txBody>
                  <a:tcPr marL="22785" marR="22785" marT="22785" marB="22785">
                    <a:lnL>
                      <a:noFill/>
                    </a:lnL>
                    <a:lnR>
                      <a:noFill/>
                    </a:lnR>
                    <a:lnT>
                      <a:noFill/>
                    </a:lnT>
                    <a:lnB>
                      <a:noFill/>
                    </a:lnB>
                    <a:solidFill>
                      <a:srgbClr val="00B050">
                        <a:alpha val="43000"/>
                      </a:srgbClr>
                    </a:solidFill>
                  </a:tcPr>
                </a:tc>
                <a:tc>
                  <a:txBody>
                    <a:bodyPr/>
                    <a:lstStyle/>
                    <a:p>
                      <a:pPr marL="0" marR="0" lvl="0" indent="0" algn="l" defTabSz="914295" rtl="0" eaLnBrk="1" fontAlgn="t" latinLnBrk="0" hangingPunct="1">
                        <a:lnSpc>
                          <a:spcPct val="100000"/>
                        </a:lnSpc>
                        <a:spcBef>
                          <a:spcPts val="0"/>
                        </a:spcBef>
                        <a:spcAft>
                          <a:spcPts val="0"/>
                        </a:spcAft>
                        <a:buClrTx/>
                        <a:buSzTx/>
                        <a:buFontTx/>
                        <a:buNone/>
                        <a:tabLst/>
                        <a:defRPr/>
                      </a:pPr>
                      <a:r>
                        <a:rPr lang="en-US" sz="1600" dirty="0">
                          <a:effectLst/>
                          <a:latin typeface="Calibri" pitchFamily="34" charset="0"/>
                          <a:cs typeface="Calibri" pitchFamily="34" charset="0"/>
                        </a:rPr>
                        <a:t>Examples of CISC include x86 Architecture</a:t>
                      </a:r>
                    </a:p>
                    <a:p>
                      <a:pPr algn="l" fontAlgn="t"/>
                      <a:endParaRPr lang="en-IN" sz="1600" dirty="0">
                        <a:effectLst/>
                        <a:latin typeface="Calibri" pitchFamily="34" charset="0"/>
                        <a:cs typeface="Calibri" pitchFamily="34" charset="0"/>
                      </a:endParaRPr>
                    </a:p>
                  </a:txBody>
                  <a:tcPr marL="22785" marR="22785" marT="22785" marB="22785">
                    <a:lnL>
                      <a:noFill/>
                    </a:lnL>
                    <a:lnR>
                      <a:noFill/>
                    </a:lnR>
                    <a:lnT>
                      <a:noFill/>
                    </a:lnT>
                    <a:lnB>
                      <a:noFill/>
                    </a:lnB>
                    <a:solidFill>
                      <a:srgbClr val="00B050">
                        <a:alpha val="43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60389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7E3E-3ABD-AAF9-56B0-60EA136DE2BF}"/>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BA8CA92F-B715-96A1-4332-610CD23D486B}"/>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3DA700BB-39C2-BD2A-A2E8-C0696750A934}"/>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BB97BBA-73A9-73AC-E456-9E2E8C035AD3}"/>
              </a:ext>
            </a:extLst>
          </p:cNvPr>
          <p:cNvSpPr txBox="1"/>
          <p:nvPr/>
        </p:nvSpPr>
        <p:spPr>
          <a:xfrm>
            <a:off x="1523998" y="1182185"/>
            <a:ext cx="10668002" cy="3447098"/>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Addressing Modes: </a:t>
            </a:r>
          </a:p>
          <a:p>
            <a:pPr marL="742950" lvl="1"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The way in which an operand is denoted in an instruction is known as addressing modes.</a:t>
            </a:r>
          </a:p>
          <a:p>
            <a:pPr marL="742950" lvl="1" indent="-285750">
              <a:buFont typeface="Courier New" panose="02070309020205020404" pitchFamily="49" charset="0"/>
              <a:buChar char="o"/>
            </a:pPr>
            <a:endParaRPr lang="en-US" dirty="0">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Addressing modes are techniques used by the CPU to identify the location of the operand(s) needed for executing an instruction. They provide rules for interpreting the address field in an instruction, helping the CPU fetch operands correctly.</a:t>
            </a:r>
          </a:p>
          <a:p>
            <a:pPr fontAlgn="base"/>
            <a:endParaRPr lang="en-US"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	Opcode</a:t>
            </a:r>
            <a:r>
              <a:rPr lang="en-US" dirty="0">
                <a:latin typeface="Times New Roman" panose="02020603050405020304" pitchFamily="18" charset="0"/>
                <a:cs typeface="Times New Roman" panose="02020603050405020304" pitchFamily="18" charset="0"/>
              </a:rPr>
              <a:t> – Tells the CPU what operation to perform (e.g., ADD, MOV).</a:t>
            </a:r>
          </a:p>
          <a:p>
            <a:pPr fontAlgn="base"/>
            <a:endParaRPr lang="en-US"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	Operands</a:t>
            </a:r>
            <a:r>
              <a:rPr lang="en-US" dirty="0">
                <a:latin typeface="Times New Roman" panose="02020603050405020304" pitchFamily="18" charset="0"/>
                <a:cs typeface="Times New Roman" panose="02020603050405020304" pitchFamily="18" charset="0"/>
              </a:rPr>
              <a:t> – The data or addresses on which the operation is performed.</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7039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9C4F-4069-2AD1-3E99-B64E1720B3E3}"/>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97C6F225-8419-E5EB-7023-874E76A5C4B1}"/>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A1352153-0F97-B18A-6C5F-6B87F4286807}"/>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73D4D2D-683B-C6B6-B1B8-9ACCBA704783}"/>
              </a:ext>
            </a:extLst>
          </p:cNvPr>
          <p:cNvSpPr txBox="1"/>
          <p:nvPr/>
        </p:nvSpPr>
        <p:spPr>
          <a:xfrm>
            <a:off x="1607977" y="938295"/>
            <a:ext cx="10668002" cy="5693866"/>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Addressing Modes: </a:t>
            </a:r>
          </a:p>
          <a:p>
            <a:pPr marL="342900" indent="-342900">
              <a:buFont typeface="Wingdings" panose="05000000000000000000" pitchFamily="2" charset="2"/>
              <a:buChar char="q"/>
            </a:pPr>
            <a:endParaRPr lang="en-US" sz="2000" b="1" dirty="0">
              <a:solidFill>
                <a:srgbClr val="7030A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There are 9 different addressing modes used in 6502 processor.</a:t>
            </a:r>
          </a:p>
          <a:p>
            <a:pPr marL="342900" indent="-342900" algn="just">
              <a:buAutoNum type="arabicPeriod"/>
            </a:pPr>
            <a:r>
              <a:rPr lang="en-US" dirty="0">
                <a:latin typeface="Times New Roman" panose="02020603050405020304" pitchFamily="18" charset="0"/>
                <a:cs typeface="Times New Roman" panose="02020603050405020304" pitchFamily="18" charset="0"/>
              </a:rPr>
              <a:t>Immediate Addressing mode</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Absolute Addressing mode</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Absolute indexed addressing mode</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Indirect indexed addressing mode</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Indexed indirect addressing mode</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Absolute indirect addressing mode</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Zero-page addressing mode</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Implicit (Implied) addressing mode</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Accumulator addressing mode  </a:t>
            </a:r>
          </a:p>
        </p:txBody>
      </p:sp>
    </p:spTree>
    <p:extLst>
      <p:ext uri="{BB962C8B-B14F-4D97-AF65-F5344CB8AC3E}">
        <p14:creationId xmlns:p14="http://schemas.microsoft.com/office/powerpoint/2010/main" val="358853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6011" y="847853"/>
            <a:ext cx="8391331" cy="559837"/>
          </a:xfrm>
        </p:spPr>
        <p:txBody>
          <a:bodyPr>
            <a:normAutofit/>
          </a:bodyPr>
          <a:lstStyle/>
          <a:p>
            <a:pPr marL="342900" indent="-342900" algn="l">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Addressing Modes: </a:t>
            </a:r>
          </a:p>
        </p:txBody>
      </p:sp>
      <p:sp>
        <p:nvSpPr>
          <p:cNvPr id="6" name="Content Placeholder 5"/>
          <p:cNvSpPr>
            <a:spLocks noGrp="1"/>
          </p:cNvSpPr>
          <p:nvPr>
            <p:ph sz="quarter" idx="1"/>
          </p:nvPr>
        </p:nvSpPr>
        <p:spPr>
          <a:xfrm>
            <a:off x="1400324" y="1326389"/>
            <a:ext cx="10813143" cy="5206787"/>
          </a:xfrm>
        </p:spPr>
        <p:txBody>
          <a:bodyPr>
            <a:noAutofit/>
          </a:bodyPr>
          <a:lstStyle/>
          <a:p>
            <a:pPr marL="0" indent="0" algn="just">
              <a:buNone/>
            </a:pPr>
            <a:r>
              <a:rPr lang="en-US" sz="1600" b="1" dirty="0">
                <a:latin typeface="Times New Roman" panose="02020603050405020304" pitchFamily="18" charset="0"/>
                <a:cs typeface="Times New Roman" panose="02020603050405020304" pitchFamily="18" charset="0"/>
              </a:rPr>
              <a:t>1. Immediate addressing mode</a:t>
            </a:r>
            <a:r>
              <a:rPr lang="en-US" sz="1600" dirty="0">
                <a:latin typeface="Times New Roman" panose="02020603050405020304" pitchFamily="18" charset="0"/>
                <a:cs typeface="Times New Roman" panose="02020603050405020304" pitchFamily="18" charset="0"/>
              </a:rPr>
              <a:t>: In this addressing mode the value (data operand) is provided in the instruction itself.</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Ex:  LDA #$123 (the value after # indicates the data)</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ADC #12</a:t>
            </a:r>
          </a:p>
          <a:p>
            <a:pPr marL="0" indent="0" algn="just">
              <a:buNone/>
            </a:pPr>
            <a:endParaRPr lang="en-US" sz="1600" b="1"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2. Absolute addressing mode</a:t>
            </a:r>
            <a:r>
              <a:rPr lang="en-US" sz="1600" dirty="0">
                <a:latin typeface="Times New Roman" panose="02020603050405020304" pitchFamily="18" charset="0"/>
                <a:cs typeface="Times New Roman" panose="02020603050405020304" pitchFamily="18" charset="0"/>
              </a:rPr>
              <a:t>: The addressing mode in which the 16-bit address of the memory is provided in the instruction.</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Ex:  CMP $FE02 ; compare A with byte at &amp;FE02</a:t>
            </a:r>
          </a:p>
          <a:p>
            <a:pPr marL="0" indent="0" algn="just">
              <a:buNone/>
            </a:pPr>
            <a:endParaRPr lang="en-US" sz="1600" b="1"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3. Absolute indexed addressing mode: </a:t>
            </a:r>
            <a:r>
              <a:rPr lang="en-US" sz="1600" dirty="0">
                <a:latin typeface="Times New Roman" panose="02020603050405020304" pitchFamily="18" charset="0"/>
                <a:cs typeface="Times New Roman" panose="02020603050405020304" pitchFamily="18" charset="0"/>
              </a:rPr>
              <a:t>The</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addressing mode in which the memory address is computed by adding a base address provided in the instruction to a value contained in the X or Y register. </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b="1" dirty="0">
                <a:solidFill>
                  <a:srgbClr val="002060"/>
                </a:solidFill>
                <a:latin typeface="Times New Roman" panose="02020603050405020304" pitchFamily="18" charset="0"/>
                <a:cs typeface="Times New Roman" panose="02020603050405020304" pitchFamily="18" charset="0"/>
              </a:rPr>
              <a:t>Ex:  LDA $123, X ($123 specifies the address) -&gt; </a:t>
            </a:r>
            <a:r>
              <a:rPr lang="en-US" sz="1600" b="1" dirty="0">
                <a:latin typeface="Times New Roman" panose="02020603050405020304" pitchFamily="18" charset="0"/>
                <a:cs typeface="Times New Roman" panose="02020603050405020304" pitchFamily="18" charset="0"/>
              </a:rPr>
              <a:t>Absolute X-Indexed addressing mode</a:t>
            </a:r>
            <a:endParaRPr lang="en-US" sz="1600" b="1"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ADC $432, Y ($123 specifies the address) -&gt; </a:t>
            </a:r>
            <a:r>
              <a:rPr lang="en-US" sz="1600" b="1" dirty="0">
                <a:latin typeface="Times New Roman" panose="02020603050405020304" pitchFamily="18" charset="0"/>
                <a:cs typeface="Times New Roman" panose="02020603050405020304" pitchFamily="18" charset="0"/>
              </a:rPr>
              <a:t>Absolute Y-Indexed addressing mode</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4. Indirect indexed addressing mode</a:t>
            </a:r>
            <a:r>
              <a:rPr lang="en-US" sz="1600" dirty="0">
                <a:latin typeface="Times New Roman" panose="02020603050405020304" pitchFamily="18" charset="0"/>
                <a:cs typeface="Times New Roman" panose="02020603050405020304" pitchFamily="18" charset="0"/>
              </a:rPr>
              <a:t>: In this addressing mode, the memory location/address of the operand is calculated by adding the content of Y register with the content of base address which is 8-bit address.</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b="1" dirty="0">
                <a:solidFill>
                  <a:srgbClr val="002060"/>
                </a:solidFill>
                <a:latin typeface="Times New Roman" panose="02020603050405020304" pitchFamily="18" charset="0"/>
                <a:cs typeface="Times New Roman" panose="02020603050405020304" pitchFamily="18" charset="0"/>
              </a:rPr>
              <a:t>Ex:  ADC ($10), Y ($10 specifies the address)</a:t>
            </a:r>
            <a:endParaRPr lang="en-US" sz="1600"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A6D95E1-25ED-6E57-1D58-AEC68721C968}"/>
              </a:ext>
            </a:extLst>
          </p:cNvPr>
          <p:cNvSpPr>
            <a:spLocks noGrp="1"/>
          </p:cNvSpPr>
          <p:nvPr>
            <p:ph type="dt" sz="half" idx="10"/>
          </p:nvPr>
        </p:nvSpPr>
        <p:spPr/>
        <p:txBody>
          <a:bodyPr/>
          <a:lstStyle/>
          <a:p>
            <a:fld id="{66DB2A90-E0A6-4226-8155-7F8FA94FADB5}" type="datetime1">
              <a:rPr lang="en-US" smtClean="0"/>
              <a:t>31-Oct-25</a:t>
            </a:fld>
            <a:endParaRPr lang="en-US"/>
          </a:p>
        </p:txBody>
      </p:sp>
      <p:pic>
        <p:nvPicPr>
          <p:cNvPr id="3" name="object 3">
            <a:extLst>
              <a:ext uri="{FF2B5EF4-FFF2-40B4-BE49-F238E27FC236}">
                <a16:creationId xmlns:a16="http://schemas.microsoft.com/office/drawing/2014/main" id="{E14DFC3D-55E3-E7CA-861D-DEC91D5E513A}"/>
              </a:ext>
            </a:extLst>
          </p:cNvPr>
          <p:cNvPicPr/>
          <p:nvPr/>
        </p:nvPicPr>
        <p:blipFill>
          <a:blip r:embed="rId2" cstate="print"/>
          <a:stretch>
            <a:fillRect/>
          </a:stretch>
        </p:blipFill>
        <p:spPr>
          <a:xfrm flipV="1">
            <a:off x="1523999" y="892576"/>
            <a:ext cx="10290629" cy="45719"/>
          </a:xfrm>
          <a:prstGeom prst="rect">
            <a:avLst/>
          </a:prstGeom>
        </p:spPr>
      </p:pic>
      <p:sp>
        <p:nvSpPr>
          <p:cNvPr id="4" name="object 2">
            <a:extLst>
              <a:ext uri="{FF2B5EF4-FFF2-40B4-BE49-F238E27FC236}">
                <a16:creationId xmlns:a16="http://schemas.microsoft.com/office/drawing/2014/main" id="{71C80AFE-3AD1-3C0D-EEC4-BDBAAA375E9E}"/>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471D6363-DBE0-300F-84ED-2521FD717F81}"/>
              </a:ext>
            </a:extLst>
          </p:cNvPr>
          <p:cNvSpPr>
            <a:spLocks noChangeArrowheads="1"/>
          </p:cNvSpPr>
          <p:nvPr/>
        </p:nvSpPr>
        <p:spPr bwMode="auto">
          <a:xfrm>
            <a:off x="3103563" y="3917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8736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F8D46-AC54-4D88-F481-F9B89F8A4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0C93F-2667-5331-1FC9-32C09C6094AD}"/>
              </a:ext>
            </a:extLst>
          </p:cNvPr>
          <p:cNvSpPr>
            <a:spLocks noGrp="1"/>
          </p:cNvSpPr>
          <p:nvPr>
            <p:ph type="title"/>
          </p:nvPr>
        </p:nvSpPr>
        <p:spPr>
          <a:xfrm>
            <a:off x="1276011" y="847853"/>
            <a:ext cx="8391331" cy="559837"/>
          </a:xfrm>
        </p:spPr>
        <p:txBody>
          <a:bodyPr>
            <a:normAutofit/>
          </a:bodyPr>
          <a:lstStyle/>
          <a:p>
            <a:pPr marL="342900" indent="-342900" algn="l">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Addressing Modes: </a:t>
            </a:r>
          </a:p>
        </p:txBody>
      </p:sp>
      <p:sp>
        <p:nvSpPr>
          <p:cNvPr id="6" name="Content Placeholder 5">
            <a:extLst>
              <a:ext uri="{FF2B5EF4-FFF2-40B4-BE49-F238E27FC236}">
                <a16:creationId xmlns:a16="http://schemas.microsoft.com/office/drawing/2014/main" id="{6DE39614-4085-ACCA-2A88-3FEB0BBFEB42}"/>
              </a:ext>
            </a:extLst>
          </p:cNvPr>
          <p:cNvSpPr>
            <a:spLocks noGrp="1"/>
          </p:cNvSpPr>
          <p:nvPr>
            <p:ph sz="quarter" idx="1"/>
          </p:nvPr>
        </p:nvSpPr>
        <p:spPr>
          <a:xfrm>
            <a:off x="1369318" y="1452412"/>
            <a:ext cx="10822682" cy="4557736"/>
          </a:xfrm>
        </p:spPr>
        <p:txBody>
          <a:bodyPr>
            <a:noAutofit/>
          </a:bodyPr>
          <a:lstStyle/>
          <a:p>
            <a:pPr marL="0" indent="0" algn="just">
              <a:buNone/>
            </a:pPr>
            <a:r>
              <a:rPr lang="en-US" sz="1600" b="1" dirty="0">
                <a:latin typeface="Times New Roman" panose="02020603050405020304" pitchFamily="18" charset="0"/>
                <a:cs typeface="Times New Roman" panose="02020603050405020304" pitchFamily="18" charset="0"/>
              </a:rPr>
              <a:t>5. Zero page addressing mode:</a:t>
            </a:r>
          </a:p>
          <a:p>
            <a:pPr marL="0" indent="0" algn="just">
              <a:buNone/>
            </a:pPr>
            <a:r>
              <a:rPr lang="en-US" sz="1600" dirty="0">
                <a:latin typeface="Times New Roman" panose="02020603050405020304" pitchFamily="18" charset="0"/>
                <a:cs typeface="Times New Roman" panose="02020603050405020304" pitchFamily="18" charset="0"/>
              </a:rPr>
              <a:t>When a zero page address (0x00-0xFF, refers to the high byte of 16-bit address) is used, it is called as </a:t>
            </a:r>
            <a:r>
              <a:rPr lang="en-US" sz="1600" b="1" dirty="0">
                <a:latin typeface="Times New Roman" panose="02020603050405020304" pitchFamily="18" charset="0"/>
                <a:cs typeface="Times New Roman" panose="02020603050405020304" pitchFamily="18" charset="0"/>
              </a:rPr>
              <a:t>Zero page addressing mode</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Ex: LDA $C5</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6. Indexed indirect addressing mode: </a:t>
            </a:r>
            <a:r>
              <a:rPr lang="en-US" sz="1600" dirty="0">
                <a:latin typeface="Times New Roman" panose="02020603050405020304" pitchFamily="18" charset="0"/>
                <a:cs typeface="Times New Roman" panose="02020603050405020304" pitchFamily="18" charset="0"/>
              </a:rPr>
              <a:t>In this addressing mode, the memory location/address of the operand is calculated by adding the content of X register with base address which is 8-bit address.</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Ex: LDA ($10, X)</a:t>
            </a:r>
            <a:endParaRPr lang="en-US" sz="1600" b="1" dirty="0">
              <a:latin typeface="Times New Roman" panose="02020603050405020304" pitchFamily="18" charset="0"/>
              <a:cs typeface="Times New Roman" panose="02020603050405020304" pitchFamily="18" charset="0"/>
            </a:endParaRPr>
          </a:p>
          <a:p>
            <a:pPr marL="0" indent="0" algn="just">
              <a:buNone/>
            </a:pP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6. </a:t>
            </a:r>
            <a:r>
              <a:rPr lang="en-US" sz="1600" dirty="0">
                <a:latin typeface="Times New Roman" panose="02020603050405020304" pitchFamily="18" charset="0"/>
                <a:cs typeface="Times New Roman" panose="02020603050405020304" pitchFamily="18" charset="0"/>
              </a:rPr>
              <a:t>A</a:t>
            </a:r>
            <a:r>
              <a:rPr lang="en-US" sz="1600" b="1" dirty="0">
                <a:latin typeface="Times New Roman" panose="02020603050405020304" pitchFamily="18" charset="0"/>
                <a:cs typeface="Times New Roman" panose="02020603050405020304" pitchFamily="18" charset="0"/>
              </a:rPr>
              <a:t>bsolute indirect addressing mode: </a:t>
            </a:r>
            <a:r>
              <a:rPr lang="en-US" sz="1600" dirty="0">
                <a:latin typeface="Times New Roman" panose="02020603050405020304" pitchFamily="18" charset="0"/>
                <a:cs typeface="Times New Roman" panose="02020603050405020304" pitchFamily="18" charset="0"/>
              </a:rPr>
              <a:t>The addressing mode that uses</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16-bit pointer to final address.</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Ex: JMP  ($1234)</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7. Implicit (Implied) addressing mode: </a:t>
            </a:r>
            <a:r>
              <a:rPr lang="en-US" sz="1600" dirty="0">
                <a:latin typeface="Times New Roman" panose="02020603050405020304" pitchFamily="18" charset="0"/>
                <a:cs typeface="Times New Roman" panose="02020603050405020304" pitchFamily="18" charset="0"/>
              </a:rPr>
              <a:t>In this addressing mode, no operand is specified in the instruction (instruction implies the data itself)</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Ex: PHA</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RST</a:t>
            </a:r>
            <a:endParaRPr lang="en-US" sz="16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0E5ADA02-6229-28DA-FD80-DF4A1C01868A}"/>
              </a:ext>
            </a:extLst>
          </p:cNvPr>
          <p:cNvSpPr>
            <a:spLocks noGrp="1"/>
          </p:cNvSpPr>
          <p:nvPr>
            <p:ph type="dt" sz="half" idx="10"/>
          </p:nvPr>
        </p:nvSpPr>
        <p:spPr/>
        <p:txBody>
          <a:bodyPr/>
          <a:lstStyle/>
          <a:p>
            <a:fld id="{66DB2A90-E0A6-4226-8155-7F8FA94FADB5}" type="datetime1">
              <a:rPr lang="en-US" smtClean="0"/>
              <a:t>31-Oct-25</a:t>
            </a:fld>
            <a:endParaRPr lang="en-US"/>
          </a:p>
        </p:txBody>
      </p:sp>
      <p:pic>
        <p:nvPicPr>
          <p:cNvPr id="3" name="object 3">
            <a:extLst>
              <a:ext uri="{FF2B5EF4-FFF2-40B4-BE49-F238E27FC236}">
                <a16:creationId xmlns:a16="http://schemas.microsoft.com/office/drawing/2014/main" id="{A9C1EC29-90B0-67B8-B663-1AB5879ABC6A}"/>
              </a:ext>
            </a:extLst>
          </p:cNvPr>
          <p:cNvPicPr/>
          <p:nvPr/>
        </p:nvPicPr>
        <p:blipFill>
          <a:blip r:embed="rId2" cstate="print"/>
          <a:stretch>
            <a:fillRect/>
          </a:stretch>
        </p:blipFill>
        <p:spPr>
          <a:xfrm flipV="1">
            <a:off x="1523999" y="892576"/>
            <a:ext cx="10290629" cy="45719"/>
          </a:xfrm>
          <a:prstGeom prst="rect">
            <a:avLst/>
          </a:prstGeom>
        </p:spPr>
      </p:pic>
      <p:sp>
        <p:nvSpPr>
          <p:cNvPr id="4" name="object 2">
            <a:extLst>
              <a:ext uri="{FF2B5EF4-FFF2-40B4-BE49-F238E27FC236}">
                <a16:creationId xmlns:a16="http://schemas.microsoft.com/office/drawing/2014/main" id="{CDF3D8E3-7371-59C9-AE2F-A27A64A06EC8}"/>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55010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F8DFF-3809-F828-A7F7-0243F1AAD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B62D9-C8B1-DCF4-2758-8723B17FE9D5}"/>
              </a:ext>
            </a:extLst>
          </p:cNvPr>
          <p:cNvSpPr>
            <a:spLocks noGrp="1"/>
          </p:cNvSpPr>
          <p:nvPr>
            <p:ph type="title"/>
          </p:nvPr>
        </p:nvSpPr>
        <p:spPr>
          <a:xfrm>
            <a:off x="1276011" y="847853"/>
            <a:ext cx="8391331" cy="559837"/>
          </a:xfrm>
        </p:spPr>
        <p:txBody>
          <a:bodyPr>
            <a:normAutofit/>
          </a:bodyPr>
          <a:lstStyle/>
          <a:p>
            <a:pPr marL="342900" indent="-342900" algn="l">
              <a:buFont typeface="Wingdings" panose="05000000000000000000" pitchFamily="2" charset="2"/>
              <a:buChar char="q"/>
            </a:pPr>
            <a:r>
              <a:rPr lang="en-US" sz="2800" b="1" dirty="0">
                <a:solidFill>
                  <a:srgbClr val="7030A0"/>
                </a:solidFill>
                <a:latin typeface="Times New Roman" panose="02020603050405020304" pitchFamily="18" charset="0"/>
                <a:cs typeface="Times New Roman" panose="02020603050405020304" pitchFamily="18" charset="0"/>
              </a:rPr>
              <a:t>Addressing Modes: </a:t>
            </a:r>
          </a:p>
        </p:txBody>
      </p:sp>
      <p:sp>
        <p:nvSpPr>
          <p:cNvPr id="6" name="Content Placeholder 5">
            <a:extLst>
              <a:ext uri="{FF2B5EF4-FFF2-40B4-BE49-F238E27FC236}">
                <a16:creationId xmlns:a16="http://schemas.microsoft.com/office/drawing/2014/main" id="{CA4CEADC-5A62-3366-0246-F48BACB26CE5}"/>
              </a:ext>
            </a:extLst>
          </p:cNvPr>
          <p:cNvSpPr>
            <a:spLocks noGrp="1"/>
          </p:cNvSpPr>
          <p:nvPr>
            <p:ph sz="quarter" idx="1"/>
          </p:nvPr>
        </p:nvSpPr>
        <p:spPr>
          <a:xfrm>
            <a:off x="1369317" y="1407689"/>
            <a:ext cx="10813143" cy="2745368"/>
          </a:xfrm>
        </p:spPr>
        <p:txBody>
          <a:bodyPr>
            <a:noAutofit/>
          </a:bodyPr>
          <a:lstStyle/>
          <a:p>
            <a:pPr marL="0" indent="0" algn="just">
              <a:buNone/>
            </a:pPr>
            <a:r>
              <a:rPr lang="en-US" sz="1600" b="1" dirty="0">
                <a:latin typeface="Times New Roman" panose="02020603050405020304" pitchFamily="18" charset="0"/>
                <a:cs typeface="Times New Roman" panose="02020603050405020304" pitchFamily="18" charset="0"/>
              </a:rPr>
              <a:t>8. Relative addressing mode: </a:t>
            </a:r>
            <a:r>
              <a:rPr lang="en-US" sz="1600" dirty="0">
                <a:latin typeface="Times New Roman" panose="02020603050405020304" pitchFamily="18" charset="0"/>
                <a:cs typeface="Times New Roman" panose="02020603050405020304" pitchFamily="18" charset="0"/>
              </a:rPr>
              <a:t>In this addressing mode Branch target as signed offset from PC</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b="1" dirty="0">
                <a:solidFill>
                  <a:srgbClr val="002060"/>
                </a:solidFill>
                <a:latin typeface="Times New Roman" panose="02020603050405020304" pitchFamily="18" charset="0"/>
                <a:cs typeface="Times New Roman" panose="02020603050405020304" pitchFamily="18" charset="0"/>
              </a:rPr>
              <a:t>Ex: BEQ $34 </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BNE $34 </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9. Accumulator addressing mode: </a:t>
            </a:r>
            <a:r>
              <a:rPr lang="en-US" sz="1600" dirty="0">
                <a:latin typeface="Times New Roman" panose="02020603050405020304" pitchFamily="18" charset="0"/>
                <a:cs typeface="Times New Roman" panose="02020603050405020304" pitchFamily="18" charset="0"/>
              </a:rPr>
              <a:t>  The addressing mode in which the operation is performed with/to the accumulator.</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Ex: ASL,</a:t>
            </a:r>
          </a:p>
          <a:p>
            <a:pPr marL="0" indent="0" algn="just">
              <a:buNone/>
            </a:pPr>
            <a:r>
              <a:rPr lang="en-US" sz="1600" b="1" dirty="0">
                <a:solidFill>
                  <a:srgbClr val="002060"/>
                </a:solidFill>
                <a:latin typeface="Times New Roman" panose="02020603050405020304" pitchFamily="18" charset="0"/>
                <a:cs typeface="Times New Roman" panose="02020603050405020304" pitchFamily="18" charset="0"/>
              </a:rPr>
              <a:t>	       LSR, </a:t>
            </a: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FEE624E4-3D06-10DF-EE47-DD0868326882}"/>
              </a:ext>
            </a:extLst>
          </p:cNvPr>
          <p:cNvSpPr>
            <a:spLocks noGrp="1"/>
          </p:cNvSpPr>
          <p:nvPr>
            <p:ph type="dt" sz="half" idx="10"/>
          </p:nvPr>
        </p:nvSpPr>
        <p:spPr/>
        <p:txBody>
          <a:bodyPr/>
          <a:lstStyle/>
          <a:p>
            <a:fld id="{66DB2A90-E0A6-4226-8155-7F8FA94FADB5}" type="datetime1">
              <a:rPr lang="en-US" smtClean="0"/>
              <a:t>31-Oct-25</a:t>
            </a:fld>
            <a:endParaRPr lang="en-US"/>
          </a:p>
        </p:txBody>
      </p:sp>
      <p:pic>
        <p:nvPicPr>
          <p:cNvPr id="3" name="object 3">
            <a:extLst>
              <a:ext uri="{FF2B5EF4-FFF2-40B4-BE49-F238E27FC236}">
                <a16:creationId xmlns:a16="http://schemas.microsoft.com/office/drawing/2014/main" id="{A3744D6E-AA16-377C-BCBF-6F12EF641645}"/>
              </a:ext>
            </a:extLst>
          </p:cNvPr>
          <p:cNvPicPr/>
          <p:nvPr/>
        </p:nvPicPr>
        <p:blipFill>
          <a:blip r:embed="rId2" cstate="print"/>
          <a:stretch>
            <a:fillRect/>
          </a:stretch>
        </p:blipFill>
        <p:spPr>
          <a:xfrm flipV="1">
            <a:off x="1523999" y="892576"/>
            <a:ext cx="10290629" cy="45719"/>
          </a:xfrm>
          <a:prstGeom prst="rect">
            <a:avLst/>
          </a:prstGeom>
        </p:spPr>
      </p:pic>
      <p:sp>
        <p:nvSpPr>
          <p:cNvPr id="4" name="object 2">
            <a:extLst>
              <a:ext uri="{FF2B5EF4-FFF2-40B4-BE49-F238E27FC236}">
                <a16:creationId xmlns:a16="http://schemas.microsoft.com/office/drawing/2014/main" id="{2A4B6B0D-918F-CA1E-D662-84FDCBC97956}"/>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173795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4EDF0-91E0-8019-EBDD-E83FC0F8F3AC}"/>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82F3E25A-B2D6-3534-1D95-C0DF58AEB9D8}"/>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D1DB6033-F646-D39C-CA33-483B13D00166}"/>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9F9B8F9-17BB-E968-5D22-EAA5300D5698}"/>
              </a:ext>
            </a:extLst>
          </p:cNvPr>
          <p:cNvSpPr txBox="1"/>
          <p:nvPr/>
        </p:nvSpPr>
        <p:spPr>
          <a:xfrm>
            <a:off x="1523998" y="1182185"/>
            <a:ext cx="10668002" cy="5078313"/>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Instruction Set of 6502 processor: </a:t>
            </a:r>
          </a:p>
          <a:p>
            <a:pPr lvl="1"/>
            <a:r>
              <a:rPr lang="en-US" sz="1600" dirty="0">
                <a:latin typeface="Times New Roman" panose="02020603050405020304" pitchFamily="18" charset="0"/>
                <a:cs typeface="Times New Roman" panose="02020603050405020304" pitchFamily="18" charset="0"/>
              </a:rPr>
              <a:t>A functional breakdown of the 6502-instruction set is commonly categorized as follows:</a:t>
            </a:r>
          </a:p>
          <a:p>
            <a:pPr lvl="1"/>
            <a:endParaRPr lang="en-US" sz="1600" dirty="0">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 </a:t>
            </a:r>
            <a:r>
              <a:rPr lang="en-US" sz="1600" b="1" dirty="0">
                <a:solidFill>
                  <a:srgbClr val="002060"/>
                </a:solidFill>
                <a:latin typeface="Times New Roman" panose="02020603050405020304" pitchFamily="18" charset="0"/>
                <a:cs typeface="Times New Roman" panose="02020603050405020304" pitchFamily="18" charset="0"/>
              </a:rPr>
              <a:t>Load/store instructions:</a:t>
            </a:r>
          </a:p>
          <a:p>
            <a:pPr marL="742950" lvl="1" indent="-285750">
              <a:buFont typeface="Courier New" panose="02070309020205020404" pitchFamily="49" charset="0"/>
              <a:buChar char="o"/>
            </a:pPr>
            <a:endParaRPr lang="en-US" sz="1600" b="1" dirty="0">
              <a:solidFill>
                <a:srgbClr val="002060"/>
              </a:solidFill>
              <a:latin typeface="Times New Roman" panose="02020603050405020304" pitchFamily="18" charset="0"/>
              <a:cs typeface="Times New Roman" panose="02020603050405020304" pitchFamily="18" charset="0"/>
            </a:endParaRPr>
          </a:p>
          <a:p>
            <a:pPr lvl="1"/>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 instructions move data between the processor's registers and memory.</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 LDA (Load Accumulator)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LDX (Load X Register)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LDY (Load Y Register)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STA (Store Accumulator)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STX (Store X Register)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STY (Store Y Register)</a:t>
            </a:r>
          </a:p>
          <a:p>
            <a:pPr marL="1200150" lvl="2"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r>
              <a:rPr lang="en-US" sz="1600" b="1" dirty="0">
                <a:solidFill>
                  <a:srgbClr val="002060"/>
                </a:solidFill>
                <a:latin typeface="Times New Roman" panose="02020603050405020304" pitchFamily="18" charset="0"/>
                <a:cs typeface="Times New Roman" panose="02020603050405020304" pitchFamily="18" charset="0"/>
              </a:rPr>
              <a:t> Register transfer instructions:</a:t>
            </a:r>
          </a:p>
          <a:p>
            <a:pPr marL="742950" lvl="1" indent="-285750">
              <a:buFont typeface="Courier New" panose="02070309020205020404" pitchFamily="49" charset="0"/>
              <a:buChar char="o"/>
            </a:pPr>
            <a:endParaRPr lang="en-US" sz="1600" b="1" dirty="0">
              <a:solidFill>
                <a:srgbClr val="002060"/>
              </a:solidFill>
              <a:latin typeface="Times New Roman" panose="02020603050405020304" pitchFamily="18" charset="0"/>
              <a:cs typeface="Times New Roman" panose="02020603050405020304" pitchFamily="18" charset="0"/>
            </a:endParaRPr>
          </a:p>
          <a:p>
            <a:pPr lvl="1"/>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 instructions move data between the processor's main registers. </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TAX (Transfer Accumulator to X)</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TAY (Transfer Accumulator to Y)</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TXA (Transfer X to Accumulator)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TYA (Transfer Y to Accumulator)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8133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5A33-4DBC-7BB3-FD31-096E5D6D2A9D}"/>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022D2C7E-2E1B-399E-CB3E-48637480144B}"/>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420C819D-9711-4852-7164-A6BEC4603F23}"/>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ADB1F8B2-74C1-009A-5951-BF5F0BE814BB}"/>
              </a:ext>
            </a:extLst>
          </p:cNvPr>
          <p:cNvSpPr txBox="1"/>
          <p:nvPr/>
        </p:nvSpPr>
        <p:spPr>
          <a:xfrm>
            <a:off x="1523998" y="1182185"/>
            <a:ext cx="10668002" cy="5570756"/>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Instruction Set of 6502 processor: </a:t>
            </a:r>
          </a:p>
          <a:p>
            <a:pPr marL="742950" lvl="1" indent="-285750">
              <a:buFont typeface="Courier New" panose="02070309020205020404" pitchFamily="49" charset="0"/>
              <a:buChar char="o"/>
            </a:pPr>
            <a:r>
              <a:rPr lang="en-US" sz="1600" b="1" dirty="0">
                <a:solidFill>
                  <a:srgbClr val="002060"/>
                </a:solidFill>
                <a:latin typeface="Times New Roman" panose="02020603050405020304" pitchFamily="18" charset="0"/>
                <a:cs typeface="Times New Roman" panose="02020603050405020304" pitchFamily="18" charset="0"/>
              </a:rPr>
              <a:t>Stack instructions:</a:t>
            </a:r>
          </a:p>
          <a:p>
            <a:pPr lvl="1"/>
            <a:r>
              <a:rPr lang="en-US" sz="1600" dirty="0">
                <a:latin typeface="Times New Roman" panose="02020603050405020304" pitchFamily="18" charset="0"/>
                <a:cs typeface="Times New Roman" panose="02020603050405020304" pitchFamily="18" charset="0"/>
              </a:rPr>
              <a:t>          These instructions handle pushing and pulling data to and from the stack, which resides on memory  page $01.</a:t>
            </a:r>
          </a:p>
          <a:p>
            <a:pPr lvl="1"/>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 PHA (Push Accumulator)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PHP (Push Processor Status)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PLA (Pull Accumulator)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PLP (Pull Processor Status)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TSX (Transfer Stack Pointer to X)</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TXS (Transfer X to Stack Pointer) </a:t>
            </a:r>
          </a:p>
          <a:p>
            <a:pPr marL="1200150" lvl="2"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r>
              <a:rPr lang="en-US" sz="1600" b="1" dirty="0">
                <a:solidFill>
                  <a:srgbClr val="002060"/>
                </a:solidFill>
                <a:latin typeface="Times New Roman" panose="02020603050405020304" pitchFamily="18" charset="0"/>
                <a:cs typeface="Times New Roman" panose="02020603050405020304" pitchFamily="18" charset="0"/>
              </a:rPr>
              <a:t>Arithmetic and logical instructions:</a:t>
            </a:r>
          </a:p>
          <a:p>
            <a:pPr marL="742950" lvl="1" indent="-285750">
              <a:buFont typeface="Courier New" panose="02070309020205020404" pitchFamily="49" charset="0"/>
              <a:buChar char="o"/>
            </a:pPr>
            <a:endParaRPr lang="en-US" sz="1600" b="1" dirty="0">
              <a:solidFill>
                <a:srgbClr val="002060"/>
              </a:solidFill>
              <a:latin typeface="Times New Roman" panose="02020603050405020304" pitchFamily="18" charset="0"/>
              <a:cs typeface="Times New Roman" panose="02020603050405020304" pitchFamily="18" charset="0"/>
            </a:endParaRPr>
          </a:p>
          <a:p>
            <a:pPr lvl="1"/>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This category includes instructions for mathematical operations and logical bit manipulation. </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ADC (Add with Carry)                   ROL (Rotate Left)</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SBC (Subtract with Carry)              ROR (Rotate Right)  </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AND (Logical AND)                       INC (Increment Memory)</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EOR (Exclusive OR)                       INX (Increment X Register)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ORA (Logical OR)                          INY (Increment Y Register)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ASL (Arithmetic Shift Left)            DEC (Decrement Memory)</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LSR (Logical Shift Right)               DEX (Decrement X Register)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                                                        DEY (Decrement Y Register)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974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F20E7-AA77-9BF2-FEAA-605B6BDAF2ED}"/>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5583701A-0805-9AB1-1E02-1E5D6FDF6CD2}"/>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0A622D57-2D83-6F3A-0A26-4996A5EE0A13}"/>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E76F3E8-CEB1-4B4E-6A6C-7F56A28D7C17}"/>
              </a:ext>
            </a:extLst>
          </p:cNvPr>
          <p:cNvSpPr txBox="1"/>
          <p:nvPr/>
        </p:nvSpPr>
        <p:spPr>
          <a:xfrm>
            <a:off x="1523998" y="1182185"/>
            <a:ext cx="10668002" cy="5139869"/>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Instruction Set of 6502 processor: </a:t>
            </a:r>
          </a:p>
          <a:p>
            <a:pPr marL="342900" indent="-342900">
              <a:buFont typeface="Wingdings" panose="05000000000000000000" pitchFamily="2" charset="2"/>
              <a:buChar char="q"/>
            </a:pPr>
            <a:endParaRPr lang="en-US" sz="2000" b="1" dirty="0">
              <a:solidFill>
                <a:srgbClr val="7030A0"/>
              </a:solidFill>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r>
              <a:rPr lang="en-US" sz="1600" b="1" dirty="0">
                <a:solidFill>
                  <a:srgbClr val="002060"/>
                </a:solidFill>
                <a:latin typeface="Times New Roman" panose="02020603050405020304" pitchFamily="18" charset="0"/>
                <a:cs typeface="Times New Roman" panose="02020603050405020304" pitchFamily="18" charset="0"/>
              </a:rPr>
              <a:t>Comparison and bit test instructions:</a:t>
            </a:r>
          </a:p>
          <a:p>
            <a:pPr lvl="1"/>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 instructions compare values and set the status register flags </a:t>
            </a:r>
            <a:r>
              <a:rPr lang="en-US" sz="1600" dirty="0" err="1">
                <a:latin typeface="Times New Roman" panose="02020603050405020304" pitchFamily="18" charset="0"/>
                <a:cs typeface="Times New Roman" panose="02020603050405020304" pitchFamily="18" charset="0"/>
              </a:rPr>
              <a:t>accordingly.CMP</a:t>
            </a:r>
            <a:r>
              <a:rPr lang="en-US" sz="1600" dirty="0">
                <a:latin typeface="Times New Roman" panose="02020603050405020304" pitchFamily="18" charset="0"/>
                <a:cs typeface="Times New Roman" panose="02020603050405020304" pitchFamily="18" charset="0"/>
              </a:rPr>
              <a:t> (Compare Accumulator).</a:t>
            </a:r>
          </a:p>
          <a:p>
            <a:pPr lvl="1"/>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CPX (Compare X Register)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CPY (Compare Y Register)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BIT (Bit Test)</a:t>
            </a:r>
          </a:p>
          <a:p>
            <a:pPr marL="1200150" lvl="2"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 </a:t>
            </a:r>
            <a:r>
              <a:rPr lang="en-US" sz="1600" b="1" dirty="0">
                <a:solidFill>
                  <a:srgbClr val="002060"/>
                </a:solidFill>
                <a:latin typeface="Times New Roman" panose="02020603050405020304" pitchFamily="18" charset="0"/>
                <a:cs typeface="Times New Roman" panose="02020603050405020304" pitchFamily="18" charset="0"/>
              </a:rPr>
              <a:t>Conditional branch instructions:</a:t>
            </a:r>
          </a:p>
          <a:p>
            <a:pPr lvl="1"/>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 instructions alter the program flow based on the state of the status flags. </a:t>
            </a:r>
          </a:p>
          <a:p>
            <a:pPr lvl="1"/>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BCC (Branch if Carry Clear)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BCS (Branch if Carry Set)</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BEQ (Branch if Equal)</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BMI (Branch if Minus)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BNE (Branch if Not Equal)</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BPL (Branch if Plus)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BVC (Branch if Overflow Clear)</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BVS (Branch if Overflow Set)</a:t>
            </a:r>
          </a:p>
        </p:txBody>
      </p:sp>
    </p:spTree>
    <p:extLst>
      <p:ext uri="{BB962C8B-B14F-4D97-AF65-F5344CB8AC3E}">
        <p14:creationId xmlns:p14="http://schemas.microsoft.com/office/powerpoint/2010/main" val="1006773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7EB3-DFBE-B201-D157-0BF3681904EE}"/>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2C8E4F69-9FF7-0743-FA10-0D75A446F8CB}"/>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295BD932-9D0A-AE3E-3A9D-B48A040F7C7E}"/>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4239B057-17D6-DDA9-D372-DC51ACE049BC}"/>
              </a:ext>
            </a:extLst>
          </p:cNvPr>
          <p:cNvSpPr txBox="1"/>
          <p:nvPr/>
        </p:nvSpPr>
        <p:spPr>
          <a:xfrm>
            <a:off x="1523998" y="1182185"/>
            <a:ext cx="10668002" cy="5724644"/>
          </a:xfrm>
          <a:prstGeom prst="rect">
            <a:avLst/>
          </a:prstGeom>
          <a:noFill/>
        </p:spPr>
        <p:txBody>
          <a:bodyPr wrap="square">
            <a:spAutoFit/>
          </a:bodyPr>
          <a:lstStyle/>
          <a:p>
            <a:pPr marL="342900" indent="-342900">
              <a:buFont typeface="Wingdings" panose="05000000000000000000" pitchFamily="2" charset="2"/>
              <a:buChar char="q"/>
            </a:pPr>
            <a:r>
              <a:rPr lang="en-US" sz="2000" b="1" dirty="0">
                <a:solidFill>
                  <a:srgbClr val="7030A0"/>
                </a:solidFill>
                <a:latin typeface="Times New Roman" panose="02020603050405020304" pitchFamily="18" charset="0"/>
                <a:cs typeface="Times New Roman" panose="02020603050405020304" pitchFamily="18" charset="0"/>
              </a:rPr>
              <a:t>Instruction Set of 6502 processor: </a:t>
            </a:r>
          </a:p>
          <a:p>
            <a:pPr marL="742950" lvl="1" indent="-285750">
              <a:buFont typeface="Courier New" panose="02070309020205020404" pitchFamily="49" charset="0"/>
              <a:buChar char="o"/>
            </a:pPr>
            <a:r>
              <a:rPr lang="en-US" sz="1600" b="1" dirty="0">
                <a:solidFill>
                  <a:srgbClr val="002060"/>
                </a:solidFill>
                <a:latin typeface="Times New Roman" panose="02020603050405020304" pitchFamily="18" charset="0"/>
                <a:cs typeface="Times New Roman" panose="02020603050405020304" pitchFamily="18" charset="0"/>
              </a:rPr>
              <a:t>Unconditional jump instructions:</a:t>
            </a:r>
          </a:p>
          <a:p>
            <a:pPr lvl="1"/>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 instructions change the program counter to a new address. </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JMP (Jump)</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JSR (Jump to Subroutine)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RTS (Return from Subroutine)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RTI (Return from Interrupt)</a:t>
            </a:r>
          </a:p>
          <a:p>
            <a:pPr marL="742950" lvl="1"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 </a:t>
            </a:r>
            <a:r>
              <a:rPr lang="en-US" sz="1600" b="1" dirty="0">
                <a:solidFill>
                  <a:srgbClr val="002060"/>
                </a:solidFill>
                <a:latin typeface="Times New Roman" panose="02020603050405020304" pitchFamily="18" charset="0"/>
                <a:cs typeface="Times New Roman" panose="02020603050405020304" pitchFamily="18" charset="0"/>
              </a:rPr>
              <a:t>Flag control instructions:</a:t>
            </a:r>
          </a:p>
          <a:p>
            <a:pPr lvl="1"/>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a:t>
            </a:r>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instructions are used to manually set or clear specific flags in the status register. </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CLC (Clear Carry Flag)</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CLD (Clear Decimal Flag)</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CLI (Clear Interrupt Disable)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CLV (Clear Overflow Flag)</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SEC (Set Carry Flag)</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SED (Set Decimal Flag)</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SEI (Set Interrupt Disable)</a:t>
            </a:r>
          </a:p>
          <a:p>
            <a:pPr marL="742950" lvl="1" indent="-285750">
              <a:buFont typeface="Courier New" panose="02070309020205020404" pitchFamily="49" charset="0"/>
              <a:buChar char="o"/>
            </a:pPr>
            <a:r>
              <a:rPr lang="en-US" sz="1600" b="1" dirty="0">
                <a:solidFill>
                  <a:srgbClr val="002060"/>
                </a:solidFill>
                <a:latin typeface="Times New Roman" panose="02020603050405020304" pitchFamily="18" charset="0"/>
                <a:cs typeface="Times New Roman" panose="02020603050405020304" pitchFamily="18" charset="0"/>
              </a:rPr>
              <a:t> System instructions:</a:t>
            </a:r>
          </a:p>
          <a:p>
            <a:pPr lvl="1"/>
            <a:r>
              <a:rPr lang="en-US" sz="1600" b="1"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This category covers miscellaneous system-level functions.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BRK (Force Interrupt)</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NOP (No Operation)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SEI</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CLI</a:t>
            </a:r>
          </a:p>
        </p:txBody>
      </p:sp>
    </p:spTree>
    <p:extLst>
      <p:ext uri="{BB962C8B-B14F-4D97-AF65-F5344CB8AC3E}">
        <p14:creationId xmlns:p14="http://schemas.microsoft.com/office/powerpoint/2010/main" val="1053948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A6F60-55C8-7AF0-5950-584FEA1B1E69}"/>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701A4814-885C-D0E7-95EE-CC588BB2965B}"/>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7BC422E0-5526-70E9-31F8-E78DF11CBCBB}"/>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B3D940FA-AEE5-850B-D921-02B44F98C673}"/>
              </a:ext>
            </a:extLst>
          </p:cNvPr>
          <p:cNvSpPr txBox="1"/>
          <p:nvPr/>
        </p:nvSpPr>
        <p:spPr>
          <a:xfrm>
            <a:off x="1523998" y="1182185"/>
            <a:ext cx="10668002" cy="5509200"/>
          </a:xfrm>
          <a:prstGeom prst="rect">
            <a:avLst/>
          </a:prstGeom>
          <a:noFill/>
        </p:spPr>
        <p:txBody>
          <a:bodyPr wrap="square">
            <a:spAutoFit/>
          </a:bodyPr>
          <a:lstStyle/>
          <a:p>
            <a:pPr marL="342900" indent="-342900">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Input/Output (I/O) Operations: </a:t>
            </a:r>
          </a:p>
          <a:p>
            <a:pPr marL="800100" lvl="1"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The goal of the I/O portion of a processor architecture is to efficiently transfer data between external peripheral devices and system memory.</a:t>
            </a:r>
          </a:p>
          <a:p>
            <a:pPr marL="800100" lvl="1"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The processor uses the instruction categories, addressing modes, and interrupt processing methods for interactions with I/O devices.  </a:t>
            </a:r>
          </a:p>
          <a:p>
            <a:pPr marL="800100" lvl="1"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Two main approaches employed in modern processors to access I/O devices</a:t>
            </a:r>
            <a:r>
              <a:rPr lang="en-US" sz="2000" dirty="0"/>
              <a:t>. </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Memory-Mapped I/O:</a:t>
            </a:r>
          </a:p>
          <a:p>
            <a:pPr marL="2171700" lvl="4"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where I/O registers are accessed like memory locations, used by 6502, ARM</a:t>
            </a:r>
          </a:p>
          <a:p>
            <a:pPr lvl="4"/>
            <a:r>
              <a:rPr lang="en-US" sz="2000" dirty="0">
                <a:latin typeface="Times New Roman" panose="02020603050405020304" pitchFamily="18" charset="0"/>
                <a:cs typeface="Times New Roman" panose="02020603050405020304" pitchFamily="18" charset="0"/>
              </a:rPr>
              <a:t> </a:t>
            </a:r>
          </a:p>
          <a:p>
            <a:pPr marL="2171700" lvl="4"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dedicates portions of the system address space to I/O devices. The processor accesses peripheral devices at predefined addresses using the same instructions and addressing modes it uses to read and write system memory. </a:t>
            </a:r>
          </a:p>
          <a:p>
            <a:pPr marL="342900" indent="-34290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Port-Mapped I/O :</a:t>
            </a:r>
          </a:p>
          <a:p>
            <a:pPr marL="2171700" lvl="4"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where a separate address space and special I/O instructions are used, like in x86 architecture).</a:t>
            </a:r>
          </a:p>
          <a:p>
            <a:pPr marL="2171700" lvl="4"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I/O devices are assigned port numbers as addresses. </a:t>
            </a:r>
          </a:p>
        </p:txBody>
      </p:sp>
    </p:spTree>
    <p:extLst>
      <p:ext uri="{BB962C8B-B14F-4D97-AF65-F5344CB8AC3E}">
        <p14:creationId xmlns:p14="http://schemas.microsoft.com/office/powerpoint/2010/main" val="2105073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E9899-0D32-7E27-0150-2B5C3E238EB5}"/>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1A90CF44-8806-52F3-3745-C4AB3825910B}"/>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B51C13D8-CE74-28C2-423A-AEC983977517}"/>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6C2BDD3-DDA4-D9E1-2A36-DB9357FFEB92}"/>
              </a:ext>
            </a:extLst>
          </p:cNvPr>
          <p:cNvSpPr txBox="1"/>
          <p:nvPr/>
        </p:nvSpPr>
        <p:spPr>
          <a:xfrm>
            <a:off x="1523998" y="1182185"/>
            <a:ext cx="10668002" cy="4093428"/>
          </a:xfrm>
          <a:prstGeom prst="rect">
            <a:avLst/>
          </a:prstGeom>
          <a:noFill/>
        </p:spPr>
        <p:txBody>
          <a:bodyPr wrap="square">
            <a:spAutoFit/>
          </a:bodyPr>
          <a:lstStyle/>
          <a:p>
            <a:pPr marL="342900" indent="-342900">
              <a:buFont typeface="Wingdings" panose="05000000000000000000" pitchFamily="2" charset="2"/>
              <a:buChar char="v"/>
            </a:pPr>
            <a:r>
              <a:rPr lang="en-US" sz="2000" b="1" dirty="0">
                <a:solidFill>
                  <a:srgbClr val="002060"/>
                </a:solidFill>
                <a:latin typeface="Times New Roman" panose="02020603050405020304" pitchFamily="18" charset="0"/>
                <a:cs typeface="Times New Roman" panose="02020603050405020304" pitchFamily="18" charset="0"/>
              </a:rPr>
              <a:t>Input/Output (I/O) Operations: </a:t>
            </a:r>
          </a:p>
          <a:p>
            <a:pPr marL="342900" indent="-342900">
              <a:buFont typeface="Wingdings" panose="05000000000000000000" pitchFamily="2" charset="2"/>
              <a:buChar char="v"/>
            </a:pPr>
            <a:endParaRPr lang="en-US" sz="2000" b="1" dirty="0">
              <a:solidFill>
                <a:srgbClr val="00206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Programmed I/O (Polling):The CPU constantly checks the status register of the I/O device in a loop, waiting for it to be ready. Simple, but highly inefficient due to wasted CPU cycles.</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Interrupt-Driven I/O: The CPU initiates a command, then moves on to other tasks. The I/O device generates an interrupt signal when the operation is complete or when it needs service, making the process much more efficient.</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Direct Memory Access (DMA):A separate DMA controller handles the direct transfer of large blocks of data between memory and an I/O device (e.g., a disk drive).The CPU only initiates the transfer and is only interrupted when the entire block transfer is complete, maximizing CPU availability.</a:t>
            </a:r>
          </a:p>
        </p:txBody>
      </p:sp>
    </p:spTree>
    <p:extLst>
      <p:ext uri="{BB962C8B-B14F-4D97-AF65-F5344CB8AC3E}">
        <p14:creationId xmlns:p14="http://schemas.microsoft.com/office/powerpoint/2010/main" val="3712454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4C42B-A466-E30B-C82D-AE3C4C582598}"/>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CB67CBF7-8568-73C2-7104-D8062C4E43AA}"/>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C101E01C-C349-AFA0-BD9D-D2CB78DEA6EF}"/>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5FBBED9-B3EB-2BDE-6EB5-ABBA6B3ADDA4}"/>
                  </a:ext>
                </a:extLst>
              </p:cNvPr>
              <p:cNvSpPr txBox="1"/>
              <p:nvPr/>
            </p:nvSpPr>
            <p:spPr>
              <a:xfrm>
                <a:off x="1523998" y="1182185"/>
                <a:ext cx="10668002" cy="4955908"/>
              </a:xfrm>
              <a:prstGeom prst="rect">
                <a:avLst/>
              </a:prstGeom>
              <a:noFill/>
            </p:spPr>
            <p:txBody>
              <a:bodyPr wrap="square">
                <a:spAutoFit/>
              </a:bodyPr>
              <a:lstStyle/>
              <a:p>
                <a:pPr marL="342900" indent="-342900">
                  <a:buFont typeface="Wingdings" panose="05000000000000000000" pitchFamily="2" charset="2"/>
                  <a:buChar char="v"/>
                </a:pPr>
                <a:r>
                  <a:rPr lang="en-US" sz="2000" b="1" dirty="0">
                    <a:solidFill>
                      <a:srgbClr val="7030A0"/>
                    </a:solidFill>
                    <a:latin typeface="Times New Roman" panose="02020603050405020304" pitchFamily="18" charset="0"/>
                    <a:cs typeface="Times New Roman" panose="02020603050405020304" pitchFamily="18" charset="0"/>
                  </a:rPr>
                  <a:t>Interrupt Processing </a:t>
                </a:r>
                <a:r>
                  <a:rPr lang="en-US" sz="2000" dirty="0">
                    <a:latin typeface="Times New Roman" panose="02020603050405020304" pitchFamily="18" charset="0"/>
                    <a:cs typeface="Times New Roman" panose="02020603050405020304" pitchFamily="18" charset="0"/>
                  </a:rPr>
                  <a:t>: Describe how the processor handles asynchronous external events and high-priority tasks:</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Interrupts: Signals that temporarily halt the main program execution to run a specialized routine (Interrupt Service Routine or ISR).</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𝐼𝑅𝑄</m:t>
                        </m:r>
                      </m:e>
                    </m:acc>
                  </m:oMath>
                </a14:m>
                <a:r>
                  <a:rPr lang="en-US" sz="2000" dirty="0">
                    <a:latin typeface="Times New Roman" panose="02020603050405020304" pitchFamily="18" charset="0"/>
                    <a:cs typeface="Times New Roman" panose="02020603050405020304" pitchFamily="18" charset="0"/>
                  </a:rPr>
                  <a:t> (Interrupt Request) Processing: Active low signal/pin. Handled by a signal line; these are typically maskable (can be ignored by the processor if disabled). </a:t>
                </a:r>
                <a:r>
                  <a:rPr lang="en-US" dirty="0">
                    <a:latin typeface="Times New Roman" panose="02020603050405020304" pitchFamily="18" charset="0"/>
                    <a:cs typeface="Times New Roman" panose="02020603050405020304" pitchFamily="18" charset="0"/>
                  </a:rPr>
                  <a:t>This method implements the hardware IRQ interrupt. It checks if the Interrupt disable flag is set, and if not, it performs the interrupt sequence.</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NMI (Non-Maskable Interrupt) Processing: The highest priority interrupt, often used for critical system failures (like a power-loss warning), and cannot be ignored. </a:t>
                </a:r>
                <a:r>
                  <a:rPr lang="en-US" dirty="0">
                    <a:latin typeface="Times New Roman" panose="02020603050405020304" pitchFamily="18" charset="0"/>
                    <a:cs typeface="Times New Roman" panose="02020603050405020304" pitchFamily="18" charset="0"/>
                  </a:rPr>
                  <a:t>It cannot be disabled by the Interrupt flag.</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BRK Instruction Processing: A software interrupt initiated by an instruction within the code, typically used to trigger a breakpoint during debugging</a:t>
                </a:r>
                <a:endParaRPr lang="en-US" sz="240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55FBBED9-B3EB-2BDE-6EB5-ABBA6B3ADDA4}"/>
                  </a:ext>
                </a:extLst>
              </p:cNvPr>
              <p:cNvSpPr txBox="1">
                <a:spLocks noRot="1" noChangeAspect="1" noMove="1" noResize="1" noEditPoints="1" noAdjustHandles="1" noChangeArrowheads="1" noChangeShapeType="1" noTextEdit="1"/>
              </p:cNvSpPr>
              <p:nvPr/>
            </p:nvSpPr>
            <p:spPr>
              <a:xfrm>
                <a:off x="1523998" y="1182185"/>
                <a:ext cx="10668002" cy="4955908"/>
              </a:xfrm>
              <a:prstGeom prst="rect">
                <a:avLst/>
              </a:prstGeom>
              <a:blipFill>
                <a:blip r:embed="rId3"/>
                <a:stretch>
                  <a:fillRect l="-514" t="-738" r="-857" b="-1230"/>
                </a:stretch>
              </a:blipFill>
            </p:spPr>
            <p:txBody>
              <a:bodyPr/>
              <a:lstStyle/>
              <a:p>
                <a:r>
                  <a:rPr lang="en-US">
                    <a:noFill/>
                  </a:rPr>
                  <a:t> </a:t>
                </a:r>
              </a:p>
            </p:txBody>
          </p:sp>
        </mc:Fallback>
      </mc:AlternateContent>
    </p:spTree>
    <p:extLst>
      <p:ext uri="{BB962C8B-B14F-4D97-AF65-F5344CB8AC3E}">
        <p14:creationId xmlns:p14="http://schemas.microsoft.com/office/powerpoint/2010/main" val="1346286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E2C49-D374-750D-4EB6-F2E9EDF68882}"/>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DDE6E930-ECF2-C3DA-CC1E-B8B546DA5217}"/>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02360747-131C-4D9A-D749-4B59A27D072B}"/>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22DDF29-B388-3F3F-CF5D-37B71AEF421C}"/>
              </a:ext>
            </a:extLst>
          </p:cNvPr>
          <p:cNvSpPr txBox="1"/>
          <p:nvPr/>
        </p:nvSpPr>
        <p:spPr>
          <a:xfrm>
            <a:off x="1523998" y="1182185"/>
            <a:ext cx="10668002" cy="1538883"/>
          </a:xfrm>
          <a:prstGeom prst="rect">
            <a:avLst/>
          </a:prstGeom>
          <a:noFill/>
        </p:spPr>
        <p:txBody>
          <a:bodyPr wrap="square">
            <a:spAutoFit/>
          </a:bodyPr>
          <a:lstStyle/>
          <a:p>
            <a:r>
              <a:rPr lang="en-US" sz="2000" b="1" dirty="0">
                <a:solidFill>
                  <a:srgbClr val="7030A0"/>
                </a:solidFill>
                <a:latin typeface="Times New Roman" panose="02020603050405020304" pitchFamily="18" charset="0"/>
                <a:cs typeface="Times New Roman" panose="02020603050405020304" pitchFamily="18" charset="0"/>
              </a:rPr>
              <a:t>Interrupt Processing </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MOS6502 processor supports three types of interrupts, each with its own vector location and handling behavior:</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2FF1ECB8-34CE-BEF7-7849-D2F0B876A051}"/>
              </a:ext>
            </a:extLst>
          </p:cNvPr>
          <p:cNvGraphicFramePr>
            <a:graphicFrameLocks noGrp="1"/>
          </p:cNvGraphicFramePr>
          <p:nvPr>
            <p:extLst>
              <p:ext uri="{D42A27DB-BD31-4B8C-83A1-F6EECF244321}">
                <p14:modId xmlns:p14="http://schemas.microsoft.com/office/powerpoint/2010/main" val="2222983014"/>
              </p:ext>
            </p:extLst>
          </p:nvPr>
        </p:nvGraphicFramePr>
        <p:xfrm>
          <a:off x="3592285" y="2211356"/>
          <a:ext cx="4618652" cy="4161451"/>
        </p:xfrm>
        <a:graphic>
          <a:graphicData uri="http://schemas.openxmlformats.org/drawingml/2006/table">
            <a:tbl>
              <a:tblPr/>
              <a:tblGrid>
                <a:gridCol w="1154663">
                  <a:extLst>
                    <a:ext uri="{9D8B030D-6E8A-4147-A177-3AD203B41FA5}">
                      <a16:colId xmlns:a16="http://schemas.microsoft.com/office/drawing/2014/main" val="2611431408"/>
                    </a:ext>
                  </a:extLst>
                </a:gridCol>
                <a:gridCol w="1154663">
                  <a:extLst>
                    <a:ext uri="{9D8B030D-6E8A-4147-A177-3AD203B41FA5}">
                      <a16:colId xmlns:a16="http://schemas.microsoft.com/office/drawing/2014/main" val="193175035"/>
                    </a:ext>
                  </a:extLst>
                </a:gridCol>
                <a:gridCol w="1154663">
                  <a:extLst>
                    <a:ext uri="{9D8B030D-6E8A-4147-A177-3AD203B41FA5}">
                      <a16:colId xmlns:a16="http://schemas.microsoft.com/office/drawing/2014/main" val="4256450555"/>
                    </a:ext>
                  </a:extLst>
                </a:gridCol>
                <a:gridCol w="1154663">
                  <a:extLst>
                    <a:ext uri="{9D8B030D-6E8A-4147-A177-3AD203B41FA5}">
                      <a16:colId xmlns:a16="http://schemas.microsoft.com/office/drawing/2014/main" val="4116290701"/>
                    </a:ext>
                  </a:extLst>
                </a:gridCol>
              </a:tblGrid>
              <a:tr h="393651">
                <a:tc>
                  <a:txBody>
                    <a:bodyPr/>
                    <a:lstStyle/>
                    <a:p>
                      <a:pPr algn="l" fontAlgn="b">
                        <a:buNone/>
                      </a:pPr>
                      <a:r>
                        <a:rPr lang="en-US" sz="800" b="1">
                          <a:solidFill>
                            <a:srgbClr val="333333"/>
                          </a:solidFill>
                          <a:effectLst/>
                        </a:rPr>
                        <a:t>nterrupt Type</a:t>
                      </a:r>
                    </a:p>
                  </a:txBody>
                  <a:tcPr marL="42219" marR="42219" marT="21109" marB="21109" anchor="b">
                    <a:lnL>
                      <a:noFill/>
                    </a:lnL>
                    <a:lnR>
                      <a:noFill/>
                    </a:lnR>
                    <a:lnT>
                      <a:noFill/>
                    </a:lnT>
                    <a:lnB w="12700" cap="flat" cmpd="sng" algn="ctr">
                      <a:solidFill>
                        <a:srgbClr val="D015D7"/>
                      </a:solidFill>
                      <a:prstDash val="solid"/>
                      <a:round/>
                      <a:headEnd type="none" w="med" len="med"/>
                      <a:tailEnd type="none" w="med" len="med"/>
                    </a:lnB>
                    <a:solidFill>
                      <a:srgbClr val="F8F7F6"/>
                    </a:solidFill>
                  </a:tcPr>
                </a:tc>
                <a:tc>
                  <a:txBody>
                    <a:bodyPr/>
                    <a:lstStyle/>
                    <a:p>
                      <a:pPr algn="l" fontAlgn="b">
                        <a:buNone/>
                      </a:pPr>
                      <a:r>
                        <a:rPr lang="en-US" sz="800" b="1">
                          <a:solidFill>
                            <a:srgbClr val="333333"/>
                          </a:solidFill>
                          <a:effectLst/>
                        </a:rPr>
                        <a:t>Vector Location</a:t>
                      </a:r>
                    </a:p>
                  </a:txBody>
                  <a:tcPr marL="42219" marR="42219" marT="21109" marB="21109" anchor="b">
                    <a:lnL>
                      <a:noFill/>
                    </a:lnL>
                    <a:lnR>
                      <a:noFill/>
                    </a:lnR>
                    <a:lnT>
                      <a:noFill/>
                    </a:lnT>
                    <a:lnB w="12700" cap="flat" cmpd="sng" algn="ctr">
                      <a:solidFill>
                        <a:srgbClr val="D015D7"/>
                      </a:solidFill>
                      <a:prstDash val="solid"/>
                      <a:round/>
                      <a:headEnd type="none" w="med" len="med"/>
                      <a:tailEnd type="none" w="med" len="med"/>
                    </a:lnB>
                    <a:solidFill>
                      <a:srgbClr val="F8F7F6"/>
                    </a:solidFill>
                  </a:tcPr>
                </a:tc>
                <a:tc>
                  <a:txBody>
                    <a:bodyPr/>
                    <a:lstStyle/>
                    <a:p>
                      <a:pPr algn="l" fontAlgn="b">
                        <a:buNone/>
                      </a:pPr>
                      <a:r>
                        <a:rPr lang="en-US" sz="800" b="1">
                          <a:solidFill>
                            <a:srgbClr val="333333"/>
                          </a:solidFill>
                          <a:effectLst/>
                        </a:rPr>
                        <a:t>Maskable</a:t>
                      </a:r>
                    </a:p>
                  </a:txBody>
                  <a:tcPr marL="42219" marR="42219" marT="21109" marB="21109" anchor="b">
                    <a:lnL>
                      <a:noFill/>
                    </a:lnL>
                    <a:lnR>
                      <a:noFill/>
                    </a:lnR>
                    <a:lnT>
                      <a:noFill/>
                    </a:lnT>
                    <a:lnB w="12700" cap="flat" cmpd="sng" algn="ctr">
                      <a:solidFill>
                        <a:srgbClr val="D015D7"/>
                      </a:solidFill>
                      <a:prstDash val="solid"/>
                      <a:round/>
                      <a:headEnd type="none" w="med" len="med"/>
                      <a:tailEnd type="none" w="med" len="med"/>
                    </a:lnB>
                    <a:solidFill>
                      <a:srgbClr val="F8F7F6"/>
                    </a:solidFill>
                  </a:tcPr>
                </a:tc>
                <a:tc>
                  <a:txBody>
                    <a:bodyPr/>
                    <a:lstStyle/>
                    <a:p>
                      <a:pPr algn="l" fontAlgn="b">
                        <a:buNone/>
                      </a:pPr>
                      <a:r>
                        <a:rPr lang="en-US" sz="800" b="1">
                          <a:solidFill>
                            <a:srgbClr val="333333"/>
                          </a:solidFill>
                          <a:effectLst/>
                        </a:rPr>
                        <a:t>Description</a:t>
                      </a:r>
                    </a:p>
                  </a:txBody>
                  <a:tcPr marL="42219" marR="42219" marT="21109" marB="21109" anchor="b">
                    <a:lnL>
                      <a:noFill/>
                    </a:lnL>
                    <a:lnR>
                      <a:noFill/>
                    </a:lnR>
                    <a:lnT>
                      <a:noFill/>
                    </a:lnT>
                    <a:lnB w="12700" cap="flat" cmpd="sng" algn="ctr">
                      <a:solidFill>
                        <a:srgbClr val="D015D7"/>
                      </a:solidFill>
                      <a:prstDash val="solid"/>
                      <a:round/>
                      <a:headEnd type="none" w="med" len="med"/>
                      <a:tailEnd type="none" w="med" len="med"/>
                    </a:lnB>
                    <a:solidFill>
                      <a:srgbClr val="F8F7F6"/>
                    </a:solidFill>
                  </a:tcPr>
                </a:tc>
                <a:extLst>
                  <a:ext uri="{0D108BD9-81ED-4DB2-BD59-A6C34878D82A}">
                    <a16:rowId xmlns:a16="http://schemas.microsoft.com/office/drawing/2014/main" val="759990218"/>
                  </a:ext>
                </a:extLst>
              </a:tr>
              <a:tr h="1068480">
                <a:tc>
                  <a:txBody>
                    <a:bodyPr/>
                    <a:lstStyle/>
                    <a:p>
                      <a:pPr algn="l" fontAlgn="base">
                        <a:buNone/>
                      </a:pPr>
                      <a:r>
                        <a:rPr lang="en-US" sz="800">
                          <a:effectLst/>
                        </a:rPr>
                        <a:t>IRQ</a:t>
                      </a:r>
                    </a:p>
                  </a:txBody>
                  <a:tcPr marL="42219" marR="42219" marT="21109" marB="21109" anchor="ctr">
                    <a:lnL w="12700" cap="flat" cmpd="sng" algn="ctr">
                      <a:solidFill>
                        <a:srgbClr val="D015D7"/>
                      </a:solidFill>
                      <a:prstDash val="solid"/>
                      <a:round/>
                      <a:headEnd type="none" w="med" len="med"/>
                      <a:tailEnd type="none" w="med" len="med"/>
                    </a:lnL>
                    <a:lnR w="12700" cap="flat" cmpd="sng" algn="ctr">
                      <a:solidFill>
                        <a:srgbClr val="D015D7"/>
                      </a:solidFill>
                      <a:prstDash val="solid"/>
                      <a:round/>
                      <a:headEnd type="none" w="med" len="med"/>
                      <a:tailEnd type="none" w="med" len="med"/>
                    </a:lnR>
                    <a:lnT w="12700" cap="flat" cmpd="sng" algn="ctr">
                      <a:solidFill>
                        <a:srgbClr val="D015D7"/>
                      </a:solidFill>
                      <a:prstDash val="solid"/>
                      <a:round/>
                      <a:headEnd type="none" w="med" len="med"/>
                      <a:tailEnd type="none" w="med" len="med"/>
                    </a:lnT>
                    <a:lnB w="12700" cap="flat" cmpd="sng" algn="ctr">
                      <a:solidFill>
                        <a:srgbClr val="4016D7"/>
                      </a:solidFill>
                      <a:prstDash val="solid"/>
                      <a:round/>
                      <a:headEnd type="none" w="med" len="med"/>
                      <a:tailEnd type="none" w="med" len="med"/>
                    </a:lnB>
                    <a:solidFill>
                      <a:srgbClr val="F8F7F6"/>
                    </a:solidFill>
                  </a:tcPr>
                </a:tc>
                <a:tc>
                  <a:txBody>
                    <a:bodyPr/>
                    <a:lstStyle/>
                    <a:p>
                      <a:pPr algn="l" fontAlgn="base">
                        <a:buNone/>
                      </a:pPr>
                      <a:r>
                        <a:rPr lang="en-US" sz="800">
                          <a:effectLst/>
                        </a:rPr>
                        <a:t>0xFFFE-0xFFFF</a:t>
                      </a:r>
                    </a:p>
                  </a:txBody>
                  <a:tcPr marL="42219" marR="42219" marT="21109" marB="21109" anchor="ctr">
                    <a:lnL w="12700" cap="flat" cmpd="sng" algn="ctr">
                      <a:solidFill>
                        <a:srgbClr val="D015D7"/>
                      </a:solidFill>
                      <a:prstDash val="solid"/>
                      <a:round/>
                      <a:headEnd type="none" w="med" len="med"/>
                      <a:tailEnd type="none" w="med" len="med"/>
                    </a:lnL>
                    <a:lnR w="12700" cap="flat" cmpd="sng" algn="ctr">
                      <a:solidFill>
                        <a:srgbClr val="D015D7"/>
                      </a:solidFill>
                      <a:prstDash val="solid"/>
                      <a:round/>
                      <a:headEnd type="none" w="med" len="med"/>
                      <a:tailEnd type="none" w="med" len="med"/>
                    </a:lnR>
                    <a:lnT w="12700" cap="flat" cmpd="sng" algn="ctr">
                      <a:solidFill>
                        <a:srgbClr val="D015D7"/>
                      </a:solidFill>
                      <a:prstDash val="solid"/>
                      <a:round/>
                      <a:headEnd type="none" w="med" len="med"/>
                      <a:tailEnd type="none" w="med" len="med"/>
                    </a:lnT>
                    <a:lnB w="12700" cap="flat" cmpd="sng" algn="ctr">
                      <a:solidFill>
                        <a:srgbClr val="4016D7"/>
                      </a:solidFill>
                      <a:prstDash val="solid"/>
                      <a:round/>
                      <a:headEnd type="none" w="med" len="med"/>
                      <a:tailEnd type="none" w="med" len="med"/>
                    </a:lnB>
                    <a:solidFill>
                      <a:srgbClr val="F8F7F6"/>
                    </a:solidFill>
                  </a:tcPr>
                </a:tc>
                <a:tc>
                  <a:txBody>
                    <a:bodyPr/>
                    <a:lstStyle/>
                    <a:p>
                      <a:pPr algn="l" fontAlgn="base">
                        <a:buNone/>
                      </a:pPr>
                      <a:r>
                        <a:rPr lang="en-US" sz="800">
                          <a:effectLst/>
                        </a:rPr>
                        <a:t>Yes</a:t>
                      </a:r>
                    </a:p>
                  </a:txBody>
                  <a:tcPr marL="42219" marR="42219" marT="21109" marB="21109" anchor="ctr">
                    <a:lnL w="12700" cap="flat" cmpd="sng" algn="ctr">
                      <a:solidFill>
                        <a:srgbClr val="D015D7"/>
                      </a:solidFill>
                      <a:prstDash val="solid"/>
                      <a:round/>
                      <a:headEnd type="none" w="med" len="med"/>
                      <a:tailEnd type="none" w="med" len="med"/>
                    </a:lnL>
                    <a:lnR w="12700" cap="flat" cmpd="sng" algn="ctr">
                      <a:solidFill>
                        <a:srgbClr val="D015D7"/>
                      </a:solidFill>
                      <a:prstDash val="solid"/>
                      <a:round/>
                      <a:headEnd type="none" w="med" len="med"/>
                      <a:tailEnd type="none" w="med" len="med"/>
                    </a:lnR>
                    <a:lnT w="12700" cap="flat" cmpd="sng" algn="ctr">
                      <a:solidFill>
                        <a:srgbClr val="D015D7"/>
                      </a:solidFill>
                      <a:prstDash val="solid"/>
                      <a:round/>
                      <a:headEnd type="none" w="med" len="med"/>
                      <a:tailEnd type="none" w="med" len="med"/>
                    </a:lnT>
                    <a:lnB w="12700" cap="flat" cmpd="sng" algn="ctr">
                      <a:solidFill>
                        <a:srgbClr val="4016D7"/>
                      </a:solidFill>
                      <a:prstDash val="solid"/>
                      <a:round/>
                      <a:headEnd type="none" w="med" len="med"/>
                      <a:tailEnd type="none" w="med" len="med"/>
                    </a:lnB>
                    <a:solidFill>
                      <a:srgbClr val="F8F7F6"/>
                    </a:solidFill>
                  </a:tcPr>
                </a:tc>
                <a:tc>
                  <a:txBody>
                    <a:bodyPr/>
                    <a:lstStyle/>
                    <a:p>
                      <a:pPr algn="l" fontAlgn="base">
                        <a:buNone/>
                      </a:pPr>
                      <a:r>
                        <a:rPr lang="en-US" sz="800">
                          <a:effectLst/>
                        </a:rPr>
                        <a:t>Hardware interrupt that can be disabled by setting the I flag</a:t>
                      </a:r>
                    </a:p>
                  </a:txBody>
                  <a:tcPr marL="42219" marR="42219" marT="21109" marB="21109" anchor="ctr">
                    <a:lnL w="12700" cap="flat" cmpd="sng" algn="ctr">
                      <a:solidFill>
                        <a:srgbClr val="D015D7"/>
                      </a:solidFill>
                      <a:prstDash val="solid"/>
                      <a:round/>
                      <a:headEnd type="none" w="med" len="med"/>
                      <a:tailEnd type="none" w="med" len="med"/>
                    </a:lnL>
                    <a:lnR w="12700" cap="flat" cmpd="sng" algn="ctr">
                      <a:solidFill>
                        <a:srgbClr val="D015D7"/>
                      </a:solidFill>
                      <a:prstDash val="solid"/>
                      <a:round/>
                      <a:headEnd type="none" w="med" len="med"/>
                      <a:tailEnd type="none" w="med" len="med"/>
                    </a:lnR>
                    <a:lnT w="12700" cap="flat" cmpd="sng" algn="ctr">
                      <a:solidFill>
                        <a:srgbClr val="D015D7"/>
                      </a:solidFill>
                      <a:prstDash val="solid"/>
                      <a:round/>
                      <a:headEnd type="none" w="med" len="med"/>
                      <a:tailEnd type="none" w="med" len="med"/>
                    </a:lnT>
                    <a:lnB w="12700" cap="flat" cmpd="sng" algn="ctr">
                      <a:solidFill>
                        <a:srgbClr val="4016D7"/>
                      </a:solidFill>
                      <a:prstDash val="solid"/>
                      <a:round/>
                      <a:headEnd type="none" w="med" len="med"/>
                      <a:tailEnd type="none" w="med" len="med"/>
                    </a:lnB>
                    <a:solidFill>
                      <a:srgbClr val="F8F7F6"/>
                    </a:solidFill>
                  </a:tcPr>
                </a:tc>
                <a:extLst>
                  <a:ext uri="{0D108BD9-81ED-4DB2-BD59-A6C34878D82A}">
                    <a16:rowId xmlns:a16="http://schemas.microsoft.com/office/drawing/2014/main" val="3067316347"/>
                  </a:ext>
                </a:extLst>
              </a:tr>
              <a:tr h="1068480">
                <a:tc>
                  <a:txBody>
                    <a:bodyPr/>
                    <a:lstStyle/>
                    <a:p>
                      <a:pPr algn="l" fontAlgn="base">
                        <a:buNone/>
                      </a:pPr>
                      <a:r>
                        <a:rPr lang="en-US" sz="800" dirty="0">
                          <a:effectLst/>
                        </a:rPr>
                        <a:t>NMI</a:t>
                      </a:r>
                    </a:p>
                  </a:txBody>
                  <a:tcPr marL="42219" marR="42219" marT="21109" marB="21109" anchor="ctr">
                    <a:lnL w="12700" cap="flat" cmpd="sng" algn="ctr">
                      <a:solidFill>
                        <a:srgbClr val="4016D7"/>
                      </a:solidFill>
                      <a:prstDash val="solid"/>
                      <a:round/>
                      <a:headEnd type="none" w="med" len="med"/>
                      <a:tailEnd type="none" w="med" len="med"/>
                    </a:lnL>
                    <a:lnR w="12700" cap="flat" cmpd="sng" algn="ctr">
                      <a:solidFill>
                        <a:srgbClr val="4016D7"/>
                      </a:solidFill>
                      <a:prstDash val="solid"/>
                      <a:round/>
                      <a:headEnd type="none" w="med" len="med"/>
                      <a:tailEnd type="none" w="med" len="med"/>
                    </a:lnR>
                    <a:lnT w="12700" cap="flat" cmpd="sng" algn="ctr">
                      <a:solidFill>
                        <a:srgbClr val="4016D7"/>
                      </a:solidFill>
                      <a:prstDash val="solid"/>
                      <a:round/>
                      <a:headEnd type="none" w="med" len="med"/>
                      <a:tailEnd type="none" w="med" len="med"/>
                    </a:lnT>
                    <a:lnB w="12700" cap="flat" cmpd="sng" algn="ctr">
                      <a:solidFill>
                        <a:srgbClr val="6007D7"/>
                      </a:solidFill>
                      <a:prstDash val="solid"/>
                      <a:round/>
                      <a:headEnd type="none" w="med" len="med"/>
                      <a:tailEnd type="none" w="med" len="med"/>
                    </a:lnB>
                    <a:solidFill>
                      <a:srgbClr val="F8F7F6"/>
                    </a:solidFill>
                  </a:tcPr>
                </a:tc>
                <a:tc>
                  <a:txBody>
                    <a:bodyPr/>
                    <a:lstStyle/>
                    <a:p>
                      <a:pPr algn="l" fontAlgn="base">
                        <a:buNone/>
                      </a:pPr>
                      <a:r>
                        <a:rPr lang="en-US" sz="800">
                          <a:effectLst/>
                        </a:rPr>
                        <a:t>0xFFFA-0xFFFB</a:t>
                      </a:r>
                    </a:p>
                  </a:txBody>
                  <a:tcPr marL="42219" marR="42219" marT="21109" marB="21109" anchor="ctr">
                    <a:lnL w="12700" cap="flat" cmpd="sng" algn="ctr">
                      <a:solidFill>
                        <a:srgbClr val="4016D7"/>
                      </a:solidFill>
                      <a:prstDash val="solid"/>
                      <a:round/>
                      <a:headEnd type="none" w="med" len="med"/>
                      <a:tailEnd type="none" w="med" len="med"/>
                    </a:lnL>
                    <a:lnR w="12700" cap="flat" cmpd="sng" algn="ctr">
                      <a:solidFill>
                        <a:srgbClr val="4016D7"/>
                      </a:solidFill>
                      <a:prstDash val="solid"/>
                      <a:round/>
                      <a:headEnd type="none" w="med" len="med"/>
                      <a:tailEnd type="none" w="med" len="med"/>
                    </a:lnR>
                    <a:lnT w="12700" cap="flat" cmpd="sng" algn="ctr">
                      <a:solidFill>
                        <a:srgbClr val="4016D7"/>
                      </a:solidFill>
                      <a:prstDash val="solid"/>
                      <a:round/>
                      <a:headEnd type="none" w="med" len="med"/>
                      <a:tailEnd type="none" w="med" len="med"/>
                    </a:lnT>
                    <a:lnB w="12700" cap="flat" cmpd="sng" algn="ctr">
                      <a:solidFill>
                        <a:srgbClr val="6007D7"/>
                      </a:solidFill>
                      <a:prstDash val="solid"/>
                      <a:round/>
                      <a:headEnd type="none" w="med" len="med"/>
                      <a:tailEnd type="none" w="med" len="med"/>
                    </a:lnB>
                    <a:solidFill>
                      <a:srgbClr val="F8F7F6"/>
                    </a:solidFill>
                  </a:tcPr>
                </a:tc>
                <a:tc>
                  <a:txBody>
                    <a:bodyPr/>
                    <a:lstStyle/>
                    <a:p>
                      <a:pPr algn="l" fontAlgn="base">
                        <a:buNone/>
                      </a:pPr>
                      <a:r>
                        <a:rPr lang="en-US" sz="800">
                          <a:effectLst/>
                        </a:rPr>
                        <a:t>No</a:t>
                      </a:r>
                    </a:p>
                  </a:txBody>
                  <a:tcPr marL="42219" marR="42219" marT="21109" marB="21109" anchor="ctr">
                    <a:lnL w="12700" cap="flat" cmpd="sng" algn="ctr">
                      <a:solidFill>
                        <a:srgbClr val="4016D7"/>
                      </a:solidFill>
                      <a:prstDash val="solid"/>
                      <a:round/>
                      <a:headEnd type="none" w="med" len="med"/>
                      <a:tailEnd type="none" w="med" len="med"/>
                    </a:lnL>
                    <a:lnR w="12700" cap="flat" cmpd="sng" algn="ctr">
                      <a:solidFill>
                        <a:srgbClr val="4016D7"/>
                      </a:solidFill>
                      <a:prstDash val="solid"/>
                      <a:round/>
                      <a:headEnd type="none" w="med" len="med"/>
                      <a:tailEnd type="none" w="med" len="med"/>
                    </a:lnR>
                    <a:lnT w="12700" cap="flat" cmpd="sng" algn="ctr">
                      <a:solidFill>
                        <a:srgbClr val="4016D7"/>
                      </a:solidFill>
                      <a:prstDash val="solid"/>
                      <a:round/>
                      <a:headEnd type="none" w="med" len="med"/>
                      <a:tailEnd type="none" w="med" len="med"/>
                    </a:lnT>
                    <a:lnB w="12700" cap="flat" cmpd="sng" algn="ctr">
                      <a:solidFill>
                        <a:srgbClr val="6007D7"/>
                      </a:solidFill>
                      <a:prstDash val="solid"/>
                      <a:round/>
                      <a:headEnd type="none" w="med" len="med"/>
                      <a:tailEnd type="none" w="med" len="med"/>
                    </a:lnB>
                    <a:solidFill>
                      <a:srgbClr val="F8F7F6"/>
                    </a:solidFill>
                  </a:tcPr>
                </a:tc>
                <a:tc>
                  <a:txBody>
                    <a:bodyPr/>
                    <a:lstStyle/>
                    <a:p>
                      <a:pPr algn="l" fontAlgn="base">
                        <a:buNone/>
                      </a:pPr>
                      <a:r>
                        <a:rPr lang="en-US" sz="800">
                          <a:effectLst/>
                        </a:rPr>
                        <a:t>Non-maskable interrupt that always triggers regardless of I flag</a:t>
                      </a:r>
                    </a:p>
                  </a:txBody>
                  <a:tcPr marL="42219" marR="42219" marT="21109" marB="21109" anchor="ctr">
                    <a:lnL w="12700" cap="flat" cmpd="sng" algn="ctr">
                      <a:solidFill>
                        <a:srgbClr val="4016D7"/>
                      </a:solidFill>
                      <a:prstDash val="solid"/>
                      <a:round/>
                      <a:headEnd type="none" w="med" len="med"/>
                      <a:tailEnd type="none" w="med" len="med"/>
                    </a:lnL>
                    <a:lnR w="12700" cap="flat" cmpd="sng" algn="ctr">
                      <a:solidFill>
                        <a:srgbClr val="4016D7"/>
                      </a:solidFill>
                      <a:prstDash val="solid"/>
                      <a:round/>
                      <a:headEnd type="none" w="med" len="med"/>
                      <a:tailEnd type="none" w="med" len="med"/>
                    </a:lnR>
                    <a:lnT w="12700" cap="flat" cmpd="sng" algn="ctr">
                      <a:solidFill>
                        <a:srgbClr val="4016D7"/>
                      </a:solidFill>
                      <a:prstDash val="solid"/>
                      <a:round/>
                      <a:headEnd type="none" w="med" len="med"/>
                      <a:tailEnd type="none" w="med" len="med"/>
                    </a:lnT>
                    <a:lnB w="12700" cap="flat" cmpd="sng" algn="ctr">
                      <a:solidFill>
                        <a:srgbClr val="6007D7"/>
                      </a:solidFill>
                      <a:prstDash val="solid"/>
                      <a:round/>
                      <a:headEnd type="none" w="med" len="med"/>
                      <a:tailEnd type="none" w="med" len="med"/>
                    </a:lnB>
                    <a:solidFill>
                      <a:srgbClr val="F8F7F6"/>
                    </a:solidFill>
                  </a:tcPr>
                </a:tc>
                <a:extLst>
                  <a:ext uri="{0D108BD9-81ED-4DB2-BD59-A6C34878D82A}">
                    <a16:rowId xmlns:a16="http://schemas.microsoft.com/office/drawing/2014/main" val="510479029"/>
                  </a:ext>
                </a:extLst>
              </a:tr>
              <a:tr h="899774">
                <a:tc>
                  <a:txBody>
                    <a:bodyPr/>
                    <a:lstStyle/>
                    <a:p>
                      <a:pPr algn="l" fontAlgn="base">
                        <a:buNone/>
                      </a:pPr>
                      <a:r>
                        <a:rPr lang="en-US" sz="800">
                          <a:effectLst/>
                        </a:rPr>
                        <a:t>BRK</a:t>
                      </a:r>
                    </a:p>
                  </a:txBody>
                  <a:tcPr marL="42219" marR="42219" marT="21109" marB="21109" anchor="ctr">
                    <a:lnL w="12700" cap="flat" cmpd="sng" algn="ctr">
                      <a:solidFill>
                        <a:srgbClr val="6007D7"/>
                      </a:solidFill>
                      <a:prstDash val="solid"/>
                      <a:round/>
                      <a:headEnd type="none" w="med" len="med"/>
                      <a:tailEnd type="none" w="med" len="med"/>
                    </a:lnL>
                    <a:lnR w="12700" cap="flat" cmpd="sng" algn="ctr">
                      <a:solidFill>
                        <a:srgbClr val="6007D7"/>
                      </a:solidFill>
                      <a:prstDash val="solid"/>
                      <a:round/>
                      <a:headEnd type="none" w="med" len="med"/>
                      <a:tailEnd type="none" w="med" len="med"/>
                    </a:lnR>
                    <a:lnT w="12700" cap="flat" cmpd="sng" algn="ctr">
                      <a:solidFill>
                        <a:srgbClr val="6007D7"/>
                      </a:solidFill>
                      <a:prstDash val="solid"/>
                      <a:round/>
                      <a:headEnd type="none" w="med" len="med"/>
                      <a:tailEnd type="none" w="med" len="med"/>
                    </a:lnT>
                    <a:lnB w="12700" cap="flat" cmpd="sng" algn="ctr">
                      <a:solidFill>
                        <a:srgbClr val="B008D7"/>
                      </a:solidFill>
                      <a:prstDash val="solid"/>
                      <a:round/>
                      <a:headEnd type="none" w="med" len="med"/>
                      <a:tailEnd type="none" w="med" len="med"/>
                    </a:lnB>
                    <a:solidFill>
                      <a:srgbClr val="F8F7F6"/>
                    </a:solidFill>
                  </a:tcPr>
                </a:tc>
                <a:tc>
                  <a:txBody>
                    <a:bodyPr/>
                    <a:lstStyle/>
                    <a:p>
                      <a:pPr algn="l" fontAlgn="base">
                        <a:buNone/>
                      </a:pPr>
                      <a:r>
                        <a:rPr lang="en-US" sz="800">
                          <a:effectLst/>
                        </a:rPr>
                        <a:t>0xFFFE-0xFFFF</a:t>
                      </a:r>
                    </a:p>
                  </a:txBody>
                  <a:tcPr marL="42219" marR="42219" marT="21109" marB="21109" anchor="ctr">
                    <a:lnL w="12700" cap="flat" cmpd="sng" algn="ctr">
                      <a:solidFill>
                        <a:srgbClr val="6007D7"/>
                      </a:solidFill>
                      <a:prstDash val="solid"/>
                      <a:round/>
                      <a:headEnd type="none" w="med" len="med"/>
                      <a:tailEnd type="none" w="med" len="med"/>
                    </a:lnL>
                    <a:lnR w="12700" cap="flat" cmpd="sng" algn="ctr">
                      <a:solidFill>
                        <a:srgbClr val="6007D7"/>
                      </a:solidFill>
                      <a:prstDash val="solid"/>
                      <a:round/>
                      <a:headEnd type="none" w="med" len="med"/>
                      <a:tailEnd type="none" w="med" len="med"/>
                    </a:lnR>
                    <a:lnT w="12700" cap="flat" cmpd="sng" algn="ctr">
                      <a:solidFill>
                        <a:srgbClr val="6007D7"/>
                      </a:solidFill>
                      <a:prstDash val="solid"/>
                      <a:round/>
                      <a:headEnd type="none" w="med" len="med"/>
                      <a:tailEnd type="none" w="med" len="med"/>
                    </a:lnT>
                    <a:lnB w="12700" cap="flat" cmpd="sng" algn="ctr">
                      <a:solidFill>
                        <a:srgbClr val="B008D7"/>
                      </a:solidFill>
                      <a:prstDash val="solid"/>
                      <a:round/>
                      <a:headEnd type="none" w="med" len="med"/>
                      <a:tailEnd type="none" w="med" len="med"/>
                    </a:lnB>
                    <a:solidFill>
                      <a:srgbClr val="F8F7F6"/>
                    </a:solidFill>
                  </a:tcPr>
                </a:tc>
                <a:tc>
                  <a:txBody>
                    <a:bodyPr/>
                    <a:lstStyle/>
                    <a:p>
                      <a:pPr algn="l" fontAlgn="base">
                        <a:buNone/>
                      </a:pPr>
                      <a:r>
                        <a:rPr lang="en-US" sz="800">
                          <a:effectLst/>
                        </a:rPr>
                        <a:t>Yes</a:t>
                      </a:r>
                    </a:p>
                  </a:txBody>
                  <a:tcPr marL="42219" marR="42219" marT="21109" marB="21109" anchor="ctr">
                    <a:lnL w="12700" cap="flat" cmpd="sng" algn="ctr">
                      <a:solidFill>
                        <a:srgbClr val="6007D7"/>
                      </a:solidFill>
                      <a:prstDash val="solid"/>
                      <a:round/>
                      <a:headEnd type="none" w="med" len="med"/>
                      <a:tailEnd type="none" w="med" len="med"/>
                    </a:lnL>
                    <a:lnR w="12700" cap="flat" cmpd="sng" algn="ctr">
                      <a:solidFill>
                        <a:srgbClr val="6007D7"/>
                      </a:solidFill>
                      <a:prstDash val="solid"/>
                      <a:round/>
                      <a:headEnd type="none" w="med" len="med"/>
                      <a:tailEnd type="none" w="med" len="med"/>
                    </a:lnR>
                    <a:lnT w="12700" cap="flat" cmpd="sng" algn="ctr">
                      <a:solidFill>
                        <a:srgbClr val="6007D7"/>
                      </a:solidFill>
                      <a:prstDash val="solid"/>
                      <a:round/>
                      <a:headEnd type="none" w="med" len="med"/>
                      <a:tailEnd type="none" w="med" len="med"/>
                    </a:lnT>
                    <a:lnB w="12700" cap="flat" cmpd="sng" algn="ctr">
                      <a:solidFill>
                        <a:srgbClr val="B008D7"/>
                      </a:solidFill>
                      <a:prstDash val="solid"/>
                      <a:round/>
                      <a:headEnd type="none" w="med" len="med"/>
                      <a:tailEnd type="none" w="med" len="med"/>
                    </a:lnB>
                    <a:solidFill>
                      <a:srgbClr val="F8F7F6"/>
                    </a:solidFill>
                  </a:tcPr>
                </a:tc>
                <a:tc>
                  <a:txBody>
                    <a:bodyPr/>
                    <a:lstStyle/>
                    <a:p>
                      <a:pPr algn="l" fontAlgn="base">
                        <a:buNone/>
                      </a:pPr>
                      <a:r>
                        <a:rPr lang="en-US" sz="800">
                          <a:effectLst/>
                        </a:rPr>
                        <a:t>Software interrupt triggered by the BRK instruction</a:t>
                      </a:r>
                    </a:p>
                  </a:txBody>
                  <a:tcPr marL="42219" marR="42219" marT="21109" marB="21109" anchor="ctr">
                    <a:lnL w="12700" cap="flat" cmpd="sng" algn="ctr">
                      <a:solidFill>
                        <a:srgbClr val="6007D7"/>
                      </a:solidFill>
                      <a:prstDash val="solid"/>
                      <a:round/>
                      <a:headEnd type="none" w="med" len="med"/>
                      <a:tailEnd type="none" w="med" len="med"/>
                    </a:lnL>
                    <a:lnR w="12700" cap="flat" cmpd="sng" algn="ctr">
                      <a:solidFill>
                        <a:srgbClr val="6007D7"/>
                      </a:solidFill>
                      <a:prstDash val="solid"/>
                      <a:round/>
                      <a:headEnd type="none" w="med" len="med"/>
                      <a:tailEnd type="none" w="med" len="med"/>
                    </a:lnR>
                    <a:lnT w="12700" cap="flat" cmpd="sng" algn="ctr">
                      <a:solidFill>
                        <a:srgbClr val="6007D7"/>
                      </a:solidFill>
                      <a:prstDash val="solid"/>
                      <a:round/>
                      <a:headEnd type="none" w="med" len="med"/>
                      <a:tailEnd type="none" w="med" len="med"/>
                    </a:lnT>
                    <a:lnB w="12700" cap="flat" cmpd="sng" algn="ctr">
                      <a:solidFill>
                        <a:srgbClr val="B008D7"/>
                      </a:solidFill>
                      <a:prstDash val="solid"/>
                      <a:round/>
                      <a:headEnd type="none" w="med" len="med"/>
                      <a:tailEnd type="none" w="med" len="med"/>
                    </a:lnB>
                    <a:solidFill>
                      <a:srgbClr val="F8F7F6"/>
                    </a:solidFill>
                  </a:tcPr>
                </a:tc>
                <a:extLst>
                  <a:ext uri="{0D108BD9-81ED-4DB2-BD59-A6C34878D82A}">
                    <a16:rowId xmlns:a16="http://schemas.microsoft.com/office/drawing/2014/main" val="1356129207"/>
                  </a:ext>
                </a:extLst>
              </a:tr>
              <a:tr h="731066">
                <a:tc>
                  <a:txBody>
                    <a:bodyPr/>
                    <a:lstStyle/>
                    <a:p>
                      <a:pPr algn="l" fontAlgn="base">
                        <a:buNone/>
                      </a:pPr>
                      <a:r>
                        <a:rPr lang="en-US" sz="800">
                          <a:effectLst/>
                        </a:rPr>
                        <a:t>Reset</a:t>
                      </a:r>
                    </a:p>
                  </a:txBody>
                  <a:tcPr marL="42219" marR="42219" marT="21109" marB="21109" anchor="ctr">
                    <a:lnL w="12700" cap="flat" cmpd="sng" algn="ctr">
                      <a:solidFill>
                        <a:srgbClr val="B008D7"/>
                      </a:solidFill>
                      <a:prstDash val="solid"/>
                      <a:round/>
                      <a:headEnd type="none" w="med" len="med"/>
                      <a:tailEnd type="none" w="med" len="med"/>
                    </a:lnL>
                    <a:lnR w="12700" cap="flat" cmpd="sng" algn="ctr">
                      <a:solidFill>
                        <a:srgbClr val="B008D7"/>
                      </a:solidFill>
                      <a:prstDash val="solid"/>
                      <a:round/>
                      <a:headEnd type="none" w="med" len="med"/>
                      <a:tailEnd type="none" w="med" len="med"/>
                    </a:lnR>
                    <a:lnT w="12700" cap="flat" cmpd="sng" algn="ctr">
                      <a:solidFill>
                        <a:srgbClr val="B008D7"/>
                      </a:solidFill>
                      <a:prstDash val="solid"/>
                      <a:round/>
                      <a:headEnd type="none" w="med" len="med"/>
                      <a:tailEnd type="none" w="med" len="med"/>
                    </a:lnT>
                    <a:lnB w="12700" cap="flat" cmpd="sng" algn="ctr">
                      <a:solidFill>
                        <a:srgbClr val="B008D7"/>
                      </a:solidFill>
                      <a:prstDash val="solid"/>
                      <a:round/>
                      <a:headEnd type="none" w="med" len="med"/>
                      <a:tailEnd type="none" w="med" len="med"/>
                    </a:lnB>
                    <a:solidFill>
                      <a:srgbClr val="F8F7F6"/>
                    </a:solidFill>
                  </a:tcPr>
                </a:tc>
                <a:tc>
                  <a:txBody>
                    <a:bodyPr/>
                    <a:lstStyle/>
                    <a:p>
                      <a:pPr algn="l" fontAlgn="base">
                        <a:buNone/>
                      </a:pPr>
                      <a:r>
                        <a:rPr lang="en-US" sz="800">
                          <a:effectLst/>
                        </a:rPr>
                        <a:t>0xFFFC-0xFFFD</a:t>
                      </a:r>
                    </a:p>
                  </a:txBody>
                  <a:tcPr marL="42219" marR="42219" marT="21109" marB="21109" anchor="ctr">
                    <a:lnL w="12700" cap="flat" cmpd="sng" algn="ctr">
                      <a:solidFill>
                        <a:srgbClr val="B008D7"/>
                      </a:solidFill>
                      <a:prstDash val="solid"/>
                      <a:round/>
                      <a:headEnd type="none" w="med" len="med"/>
                      <a:tailEnd type="none" w="med" len="med"/>
                    </a:lnL>
                    <a:lnR w="12700" cap="flat" cmpd="sng" algn="ctr">
                      <a:solidFill>
                        <a:srgbClr val="B008D7"/>
                      </a:solidFill>
                      <a:prstDash val="solid"/>
                      <a:round/>
                      <a:headEnd type="none" w="med" len="med"/>
                      <a:tailEnd type="none" w="med" len="med"/>
                    </a:lnR>
                    <a:lnT w="12700" cap="flat" cmpd="sng" algn="ctr">
                      <a:solidFill>
                        <a:srgbClr val="B008D7"/>
                      </a:solidFill>
                      <a:prstDash val="solid"/>
                      <a:round/>
                      <a:headEnd type="none" w="med" len="med"/>
                      <a:tailEnd type="none" w="med" len="med"/>
                    </a:lnT>
                    <a:lnB w="12700" cap="flat" cmpd="sng" algn="ctr">
                      <a:solidFill>
                        <a:srgbClr val="B008D7"/>
                      </a:solidFill>
                      <a:prstDash val="solid"/>
                      <a:round/>
                      <a:headEnd type="none" w="med" len="med"/>
                      <a:tailEnd type="none" w="med" len="med"/>
                    </a:lnB>
                    <a:solidFill>
                      <a:srgbClr val="F8F7F6"/>
                    </a:solidFill>
                  </a:tcPr>
                </a:tc>
                <a:tc>
                  <a:txBody>
                    <a:bodyPr/>
                    <a:lstStyle/>
                    <a:p>
                      <a:pPr algn="l" fontAlgn="base">
                        <a:buNone/>
                      </a:pPr>
                      <a:r>
                        <a:rPr lang="en-US" sz="800">
                          <a:effectLst/>
                        </a:rPr>
                        <a:t>No</a:t>
                      </a:r>
                    </a:p>
                  </a:txBody>
                  <a:tcPr marL="42219" marR="42219" marT="21109" marB="21109" anchor="ctr">
                    <a:lnL w="12700" cap="flat" cmpd="sng" algn="ctr">
                      <a:solidFill>
                        <a:srgbClr val="B008D7"/>
                      </a:solidFill>
                      <a:prstDash val="solid"/>
                      <a:round/>
                      <a:headEnd type="none" w="med" len="med"/>
                      <a:tailEnd type="none" w="med" len="med"/>
                    </a:lnL>
                    <a:lnR w="12700" cap="flat" cmpd="sng" algn="ctr">
                      <a:solidFill>
                        <a:srgbClr val="B008D7"/>
                      </a:solidFill>
                      <a:prstDash val="solid"/>
                      <a:round/>
                      <a:headEnd type="none" w="med" len="med"/>
                      <a:tailEnd type="none" w="med" len="med"/>
                    </a:lnR>
                    <a:lnT w="12700" cap="flat" cmpd="sng" algn="ctr">
                      <a:solidFill>
                        <a:srgbClr val="B008D7"/>
                      </a:solidFill>
                      <a:prstDash val="solid"/>
                      <a:round/>
                      <a:headEnd type="none" w="med" len="med"/>
                      <a:tailEnd type="none" w="med" len="med"/>
                    </a:lnT>
                    <a:lnB w="12700" cap="flat" cmpd="sng" algn="ctr">
                      <a:solidFill>
                        <a:srgbClr val="B008D7"/>
                      </a:solidFill>
                      <a:prstDash val="solid"/>
                      <a:round/>
                      <a:headEnd type="none" w="med" len="med"/>
                      <a:tailEnd type="none" w="med" len="med"/>
                    </a:lnB>
                    <a:solidFill>
                      <a:srgbClr val="F8F7F6"/>
                    </a:solidFill>
                  </a:tcPr>
                </a:tc>
                <a:tc>
                  <a:txBody>
                    <a:bodyPr/>
                    <a:lstStyle/>
                    <a:p>
                      <a:pPr algn="l" fontAlgn="base">
                        <a:buNone/>
                      </a:pPr>
                      <a:r>
                        <a:rPr lang="en-US" sz="800" dirty="0">
                          <a:effectLst/>
                        </a:rPr>
                        <a:t>System reset (not technically an interrupt)</a:t>
                      </a:r>
                    </a:p>
                  </a:txBody>
                  <a:tcPr marL="42219" marR="42219" marT="21109" marB="21109" anchor="ctr">
                    <a:lnL w="12700" cap="flat" cmpd="sng" algn="ctr">
                      <a:solidFill>
                        <a:srgbClr val="B008D7"/>
                      </a:solidFill>
                      <a:prstDash val="solid"/>
                      <a:round/>
                      <a:headEnd type="none" w="med" len="med"/>
                      <a:tailEnd type="none" w="med" len="med"/>
                    </a:lnL>
                    <a:lnR w="12700" cap="flat" cmpd="sng" algn="ctr">
                      <a:solidFill>
                        <a:srgbClr val="B008D7"/>
                      </a:solidFill>
                      <a:prstDash val="solid"/>
                      <a:round/>
                      <a:headEnd type="none" w="med" len="med"/>
                      <a:tailEnd type="none" w="med" len="med"/>
                    </a:lnR>
                    <a:lnT w="12700" cap="flat" cmpd="sng" algn="ctr">
                      <a:solidFill>
                        <a:srgbClr val="B008D7"/>
                      </a:solidFill>
                      <a:prstDash val="solid"/>
                      <a:round/>
                      <a:headEnd type="none" w="med" len="med"/>
                      <a:tailEnd type="none" w="med" len="med"/>
                    </a:lnT>
                    <a:lnB w="12700" cap="flat" cmpd="sng" algn="ctr">
                      <a:solidFill>
                        <a:srgbClr val="B008D7"/>
                      </a:solidFill>
                      <a:prstDash val="solid"/>
                      <a:round/>
                      <a:headEnd type="none" w="med" len="med"/>
                      <a:tailEnd type="none" w="med" len="med"/>
                    </a:lnB>
                    <a:solidFill>
                      <a:srgbClr val="F8F7F6"/>
                    </a:solidFill>
                  </a:tcPr>
                </a:tc>
                <a:extLst>
                  <a:ext uri="{0D108BD9-81ED-4DB2-BD59-A6C34878D82A}">
                    <a16:rowId xmlns:a16="http://schemas.microsoft.com/office/drawing/2014/main" val="3975098904"/>
                  </a:ext>
                </a:extLst>
              </a:tr>
            </a:tbl>
          </a:graphicData>
        </a:graphic>
      </p:graphicFrame>
    </p:spTree>
    <p:extLst>
      <p:ext uri="{BB962C8B-B14F-4D97-AF65-F5344CB8AC3E}">
        <p14:creationId xmlns:p14="http://schemas.microsoft.com/office/powerpoint/2010/main" val="1395982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8D54-0F9E-9482-B05F-670B125DB8CB}"/>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061894F4-F1E7-9398-CA03-01FB4EBA79BD}"/>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C1650ECD-8019-B702-2F2C-6126CD88EB85}"/>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BECB73D5-7EDB-DBE9-3B88-49A0591D10E6}"/>
              </a:ext>
            </a:extLst>
          </p:cNvPr>
          <p:cNvSpPr txBox="1"/>
          <p:nvPr/>
        </p:nvSpPr>
        <p:spPr>
          <a:xfrm>
            <a:off x="1523998" y="1182185"/>
            <a:ext cx="10668002" cy="707886"/>
          </a:xfrm>
          <a:prstGeom prst="rect">
            <a:avLst/>
          </a:prstGeom>
          <a:noFill/>
        </p:spPr>
        <p:txBody>
          <a:bodyPr wrap="square">
            <a:spAutoFit/>
          </a:bodyPr>
          <a:lstStyle/>
          <a:p>
            <a:r>
              <a:rPr lang="en-US" sz="2000" b="1" dirty="0">
                <a:solidFill>
                  <a:srgbClr val="7030A0"/>
                </a:solidFill>
                <a:latin typeface="Times New Roman" panose="02020603050405020304" pitchFamily="18" charset="0"/>
                <a:cs typeface="Times New Roman" panose="02020603050405020304" pitchFamily="18" charset="0"/>
              </a:rPr>
              <a:t>Interrupt Handling Process:</a:t>
            </a:r>
          </a:p>
          <a:p>
            <a:r>
              <a:rPr lang="en-US" sz="2000" dirty="0">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553366F2-F096-9B5D-1D1F-28807BE2A8E9}"/>
              </a:ext>
            </a:extLst>
          </p:cNvPr>
          <p:cNvPicPr>
            <a:picLocks noChangeAspect="1"/>
          </p:cNvPicPr>
          <p:nvPr/>
        </p:nvPicPr>
        <p:blipFill>
          <a:blip r:embed="rId3"/>
          <a:stretch>
            <a:fillRect/>
          </a:stretch>
        </p:blipFill>
        <p:spPr>
          <a:xfrm>
            <a:off x="7716417" y="880069"/>
            <a:ext cx="3610947" cy="5977931"/>
          </a:xfrm>
          <a:prstGeom prst="rect">
            <a:avLst/>
          </a:prstGeom>
        </p:spPr>
      </p:pic>
    </p:spTree>
    <p:extLst>
      <p:ext uri="{BB962C8B-B14F-4D97-AF65-F5344CB8AC3E}">
        <p14:creationId xmlns:p14="http://schemas.microsoft.com/office/powerpoint/2010/main" val="3660417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4131F-8DCC-4BD4-D444-257F9BDC2621}"/>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A5203250-EF29-CF53-16E0-595CB00C2FAF}"/>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06C27C60-156C-1C25-3B16-AB9296265F91}"/>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86222D2-8A55-0956-4515-8863D9542E76}"/>
              </a:ext>
            </a:extLst>
          </p:cNvPr>
          <p:cNvSpPr txBox="1"/>
          <p:nvPr/>
        </p:nvSpPr>
        <p:spPr>
          <a:xfrm>
            <a:off x="1523998" y="948918"/>
            <a:ext cx="10668002" cy="5170646"/>
          </a:xfrm>
          <a:prstGeom prst="rect">
            <a:avLst/>
          </a:prstGeom>
          <a:noFill/>
        </p:spPr>
        <p:txBody>
          <a:bodyPr wrap="square">
            <a:spAutoFit/>
          </a:bodyPr>
          <a:lstStyle/>
          <a:p>
            <a:pPr lvl="0" defTabSz="914400" eaLnBrk="0" fontAlgn="base" hangingPunct="0">
              <a:spcBef>
                <a:spcPct val="0"/>
              </a:spcBef>
              <a:spcAft>
                <a:spcPct val="0"/>
              </a:spcAft>
            </a:pPr>
            <a:r>
              <a:rPr lang="en-US" sz="2000" b="1" dirty="0">
                <a:solidFill>
                  <a:srgbClr val="7030A0"/>
                </a:solidFill>
                <a:latin typeface="Times New Roman" panose="02020603050405020304" pitchFamily="18" charset="0"/>
                <a:cs typeface="Times New Roman" panose="02020603050405020304" pitchFamily="18" charset="0"/>
              </a:rPr>
              <a:t>Interrupt Processing </a:t>
            </a:r>
            <a:r>
              <a:rPr 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pPr>
            <a:endParaRPr lang="en-US" altLang="en-US" sz="2000" b="1" dirty="0">
              <a:solidFill>
                <a:srgbClr val="333333"/>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b="1" dirty="0">
                <a:solidFill>
                  <a:srgbClr val="333333"/>
                </a:solidFill>
                <a:latin typeface="Times New Roman" panose="02020603050405020304" pitchFamily="18" charset="0"/>
                <a:cs typeface="Times New Roman" panose="02020603050405020304" pitchFamily="18" charset="0"/>
              </a:rPr>
              <a:t>Detailed Interrupt Sequence</a:t>
            </a:r>
          </a:p>
          <a:p>
            <a:pPr lvl="0" defTabSz="914400" eaLnBrk="0" fontAlgn="base" hangingPunct="0">
              <a:spcBef>
                <a:spcPct val="0"/>
              </a:spcBef>
              <a:spcAft>
                <a:spcPct val="0"/>
              </a:spcAft>
            </a:pPr>
            <a:r>
              <a:rPr lang="en-US" altLang="en-US" dirty="0">
                <a:solidFill>
                  <a:srgbClr val="333333"/>
                </a:solidFill>
                <a:latin typeface="Times New Roman" panose="02020603050405020304" pitchFamily="18" charset="0"/>
                <a:cs typeface="Times New Roman" panose="02020603050405020304" pitchFamily="18" charset="0"/>
              </a:rPr>
              <a:t>The following steps show the exact sequence of operations performed during interrupt handling:</a:t>
            </a:r>
            <a:endParaRPr lang="en-US" altLang="en-US" b="1" dirty="0">
              <a:solidFill>
                <a:srgbClr val="333333"/>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b="1" dirty="0">
                <a:solidFill>
                  <a:srgbClr val="333333"/>
                </a:solidFill>
                <a:latin typeface="Times New Roman" panose="02020603050405020304" pitchFamily="18" charset="0"/>
                <a:cs typeface="Times New Roman" panose="02020603050405020304" pitchFamily="18" charset="0"/>
              </a:rPr>
              <a:t>IRQ (Interrupt Request)</a:t>
            </a:r>
          </a:p>
          <a:p>
            <a:pPr lvl="0" defTabSz="914400" eaLnBrk="0" fontAlgn="base" hangingPunct="0">
              <a:spcBef>
                <a:spcPct val="0"/>
              </a:spcBef>
              <a:spcAft>
                <a:spcPct val="0"/>
              </a:spcAft>
              <a:buFontTx/>
              <a:buAutoNum type="arabicPeriod"/>
            </a:pPr>
            <a:r>
              <a:rPr lang="en-US" altLang="en-US" dirty="0">
                <a:solidFill>
                  <a:srgbClr val="333333"/>
                </a:solidFill>
                <a:latin typeface="Times New Roman" panose="02020603050405020304" pitchFamily="18" charset="0"/>
                <a:cs typeface="Times New Roman" panose="02020603050405020304" pitchFamily="18" charset="0"/>
              </a:rPr>
              <a:t>Check if the Interrupt disable (I) flag is clear</a:t>
            </a:r>
          </a:p>
          <a:p>
            <a:pPr lvl="0" defTabSz="914400" eaLnBrk="0" fontAlgn="base" hangingPunct="0">
              <a:spcBef>
                <a:spcPct val="0"/>
              </a:spcBef>
              <a:spcAft>
                <a:spcPct val="0"/>
              </a:spcAft>
              <a:buFontTx/>
              <a:buAutoNum type="arabicPeriod" startAt="2"/>
            </a:pPr>
            <a:r>
              <a:rPr lang="en-US" altLang="en-US" dirty="0">
                <a:solidFill>
                  <a:srgbClr val="333333"/>
                </a:solidFill>
                <a:latin typeface="Times New Roman" panose="02020603050405020304" pitchFamily="18" charset="0"/>
                <a:cs typeface="Times New Roman" panose="02020603050405020304" pitchFamily="18" charset="0"/>
              </a:rPr>
              <a:t>If I is set, the interrupt is ignored</a:t>
            </a:r>
          </a:p>
          <a:p>
            <a:pPr lvl="0" defTabSz="914400" eaLnBrk="0" fontAlgn="base" hangingPunct="0">
              <a:spcBef>
                <a:spcPct val="0"/>
              </a:spcBef>
              <a:spcAft>
                <a:spcPct val="0"/>
              </a:spcAft>
              <a:buFontTx/>
              <a:buAutoNum type="arabicPeriod" startAt="3"/>
            </a:pPr>
            <a:r>
              <a:rPr lang="en-US" altLang="en-US" dirty="0">
                <a:solidFill>
                  <a:srgbClr val="333333"/>
                </a:solidFill>
                <a:latin typeface="Times New Roman" panose="02020603050405020304" pitchFamily="18" charset="0"/>
                <a:cs typeface="Times New Roman" panose="02020603050405020304" pitchFamily="18" charset="0"/>
              </a:rPr>
              <a:t>Push the high byte of PC to the stack (decrements SP)</a:t>
            </a:r>
          </a:p>
          <a:p>
            <a:pPr lvl="0" defTabSz="914400" eaLnBrk="0" fontAlgn="base" hangingPunct="0">
              <a:spcBef>
                <a:spcPct val="0"/>
              </a:spcBef>
              <a:spcAft>
                <a:spcPct val="0"/>
              </a:spcAft>
              <a:buFontTx/>
              <a:buAutoNum type="arabicPeriod" startAt="4"/>
            </a:pPr>
            <a:r>
              <a:rPr lang="en-US" altLang="en-US" dirty="0">
                <a:solidFill>
                  <a:srgbClr val="333333"/>
                </a:solidFill>
                <a:latin typeface="Times New Roman" panose="02020603050405020304" pitchFamily="18" charset="0"/>
                <a:cs typeface="Times New Roman" panose="02020603050405020304" pitchFamily="18" charset="0"/>
              </a:rPr>
              <a:t>Push the low byte of PC to the stack (decrements SP)</a:t>
            </a:r>
          </a:p>
          <a:p>
            <a:pPr lvl="0" defTabSz="914400" eaLnBrk="0" fontAlgn="base" hangingPunct="0">
              <a:spcBef>
                <a:spcPct val="0"/>
              </a:spcBef>
              <a:spcAft>
                <a:spcPct val="0"/>
              </a:spcAft>
              <a:buFontTx/>
              <a:buAutoNum type="arabicPeriod" startAt="5"/>
            </a:pPr>
            <a:r>
              <a:rPr lang="en-US" altLang="en-US" dirty="0">
                <a:solidFill>
                  <a:srgbClr val="333333"/>
                </a:solidFill>
                <a:latin typeface="Times New Roman" panose="02020603050405020304" pitchFamily="18" charset="0"/>
                <a:cs typeface="Times New Roman" panose="02020603050405020304" pitchFamily="18" charset="0"/>
              </a:rPr>
              <a:t>Push the status register to the stack with B flag clear (decrements SP)</a:t>
            </a:r>
          </a:p>
          <a:p>
            <a:pPr lvl="0" defTabSz="914400" eaLnBrk="0" fontAlgn="base" hangingPunct="0">
              <a:spcBef>
                <a:spcPct val="0"/>
              </a:spcBef>
              <a:spcAft>
                <a:spcPct val="0"/>
              </a:spcAft>
              <a:buFontTx/>
              <a:buAutoNum type="arabicPeriod" startAt="6"/>
            </a:pPr>
            <a:r>
              <a:rPr lang="en-US" altLang="en-US" dirty="0">
                <a:solidFill>
                  <a:srgbClr val="333333"/>
                </a:solidFill>
                <a:latin typeface="Times New Roman" panose="02020603050405020304" pitchFamily="18" charset="0"/>
                <a:cs typeface="Times New Roman" panose="02020603050405020304" pitchFamily="18" charset="0"/>
              </a:rPr>
              <a:t>Set the I flag to disable further interrupts</a:t>
            </a:r>
          </a:p>
          <a:p>
            <a:pPr lvl="0" defTabSz="914400" eaLnBrk="0" fontAlgn="base" hangingPunct="0">
              <a:spcBef>
                <a:spcPct val="0"/>
              </a:spcBef>
              <a:spcAft>
                <a:spcPct val="0"/>
              </a:spcAft>
              <a:buFontTx/>
              <a:buAutoNum type="arabicPeriod" startAt="7"/>
            </a:pPr>
            <a:r>
              <a:rPr lang="en-US" altLang="en-US" dirty="0">
                <a:solidFill>
                  <a:srgbClr val="333333"/>
                </a:solidFill>
                <a:latin typeface="Times New Roman" panose="02020603050405020304" pitchFamily="18" charset="0"/>
                <a:cs typeface="Times New Roman" panose="02020603050405020304" pitchFamily="18" charset="0"/>
              </a:rPr>
              <a:t>Load the new PC from the IRQ vector (0xFFFE-0xFFFF)</a:t>
            </a:r>
          </a:p>
          <a:p>
            <a:pPr lvl="0" defTabSz="914400" eaLnBrk="0" fontAlgn="base" hangingPunct="0">
              <a:spcBef>
                <a:spcPct val="0"/>
              </a:spcBef>
              <a:spcAft>
                <a:spcPct val="0"/>
              </a:spcAft>
              <a:buFontTx/>
              <a:buAutoNum type="arabicPeriod" startAt="8"/>
            </a:pPr>
            <a:r>
              <a:rPr lang="en-US" altLang="en-US" dirty="0">
                <a:solidFill>
                  <a:srgbClr val="333333"/>
                </a:solidFill>
                <a:latin typeface="Times New Roman" panose="02020603050405020304" pitchFamily="18" charset="0"/>
                <a:cs typeface="Times New Roman" panose="02020603050405020304" pitchFamily="18" charset="0"/>
              </a:rPr>
              <a:t>Continue execution at the new PC</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138F04F0-D4A9-0F98-B38F-0F276FA97EA7}"/>
              </a:ext>
            </a:extLst>
          </p:cNvPr>
          <p:cNvSpPr>
            <a:spLocks noChangeArrowheads="1"/>
          </p:cNvSpPr>
          <p:nvPr/>
        </p:nvSpPr>
        <p:spPr bwMode="auto">
          <a:xfrm>
            <a:off x="0" y="-2043"/>
            <a:ext cx="65" cy="461286"/>
          </a:xfrm>
          <a:prstGeom prst="rect">
            <a:avLst/>
          </a:prstGeom>
          <a:solidFill>
            <a:srgbClr val="F8F7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8250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8640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C3092-C6D1-755B-CFF1-5702B9E34A7A}"/>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9E35DB57-934C-187B-BD40-01ADC9D692C0}"/>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5FB2B441-045E-41B8-2EE2-CE5009E52E82}"/>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273DAA94-D063-1E18-E82C-F394F613B327}"/>
              </a:ext>
            </a:extLst>
          </p:cNvPr>
          <p:cNvSpPr txBox="1"/>
          <p:nvPr/>
        </p:nvSpPr>
        <p:spPr>
          <a:xfrm>
            <a:off x="1523998" y="939579"/>
            <a:ext cx="10668002" cy="4616648"/>
          </a:xfrm>
          <a:prstGeom prst="rect">
            <a:avLst/>
          </a:prstGeom>
          <a:noFill/>
        </p:spPr>
        <p:txBody>
          <a:bodyPr wrap="square">
            <a:spAutoFit/>
          </a:bodyPr>
          <a:lstStyle/>
          <a:p>
            <a:pPr lvl="0" defTabSz="914400" eaLnBrk="0" fontAlgn="base" hangingPunct="0">
              <a:spcBef>
                <a:spcPct val="0"/>
              </a:spcBef>
              <a:spcAft>
                <a:spcPct val="0"/>
              </a:spcAft>
            </a:pPr>
            <a:r>
              <a:rPr lang="en-US" sz="2000" b="1" dirty="0">
                <a:solidFill>
                  <a:srgbClr val="7030A0"/>
                </a:solidFill>
                <a:latin typeface="Times New Roman" panose="02020603050405020304" pitchFamily="18" charset="0"/>
                <a:cs typeface="Times New Roman" panose="02020603050405020304" pitchFamily="18" charset="0"/>
              </a:rPr>
              <a:t>Interrupt Processing </a:t>
            </a:r>
            <a:r>
              <a:rPr 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pPr>
            <a:endParaRPr lang="en-US" altLang="en-US" sz="2000" b="1" dirty="0">
              <a:solidFill>
                <a:srgbClr val="333333"/>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b="1" dirty="0">
                <a:solidFill>
                  <a:srgbClr val="333333"/>
                </a:solidFill>
                <a:latin typeface="Times New Roman" panose="02020603050405020304" pitchFamily="18" charset="0"/>
                <a:cs typeface="Times New Roman" panose="02020603050405020304" pitchFamily="18" charset="0"/>
              </a:rPr>
              <a:t>Detailed Interrupt Sequence</a:t>
            </a:r>
          </a:p>
          <a:p>
            <a:pPr lvl="0" defTabSz="914400" eaLnBrk="0" fontAlgn="base" hangingPunct="0">
              <a:spcBef>
                <a:spcPct val="0"/>
              </a:spcBef>
              <a:spcAft>
                <a:spcPct val="0"/>
              </a:spcAft>
            </a:pPr>
            <a:r>
              <a:rPr lang="en-US" altLang="en-US" dirty="0">
                <a:solidFill>
                  <a:srgbClr val="333333"/>
                </a:solidFill>
                <a:latin typeface="Times New Roman" panose="02020603050405020304" pitchFamily="18" charset="0"/>
                <a:cs typeface="Times New Roman" panose="02020603050405020304" pitchFamily="18" charset="0"/>
              </a:rPr>
              <a:t>The following steps show the exact sequence of operations performed during interrupt handling:</a:t>
            </a:r>
            <a:endParaRPr lang="en-US" altLang="en-US" b="1" dirty="0">
              <a:solidFill>
                <a:srgbClr val="333333"/>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b="1" dirty="0">
                <a:solidFill>
                  <a:srgbClr val="333333"/>
                </a:solidFill>
                <a:latin typeface="Times New Roman" panose="02020603050405020304" pitchFamily="18" charset="0"/>
                <a:cs typeface="Times New Roman" panose="02020603050405020304" pitchFamily="18" charset="0"/>
              </a:rPr>
              <a:t>NMI (Non-Maskable Interrupt)</a:t>
            </a:r>
          </a:p>
          <a:p>
            <a:pPr lvl="0" defTabSz="914400" eaLnBrk="0" fontAlgn="base" hangingPunct="0">
              <a:spcBef>
                <a:spcPct val="0"/>
              </a:spcBef>
              <a:spcAft>
                <a:spcPct val="0"/>
              </a:spcAft>
              <a:buFontTx/>
              <a:buAutoNum type="arabicPeriod"/>
            </a:pPr>
            <a:r>
              <a:rPr lang="en-US" altLang="en-US" dirty="0">
                <a:solidFill>
                  <a:srgbClr val="333333"/>
                </a:solidFill>
                <a:latin typeface="Times New Roman" panose="02020603050405020304" pitchFamily="18" charset="0"/>
                <a:cs typeface="Times New Roman" panose="02020603050405020304" pitchFamily="18" charset="0"/>
              </a:rPr>
              <a:t>Push the high byte of PC to the stack (decrements SP)</a:t>
            </a:r>
          </a:p>
          <a:p>
            <a:pPr lvl="0" defTabSz="914400" eaLnBrk="0" fontAlgn="base" hangingPunct="0">
              <a:spcBef>
                <a:spcPct val="0"/>
              </a:spcBef>
              <a:spcAft>
                <a:spcPct val="0"/>
              </a:spcAft>
              <a:buFontTx/>
              <a:buAutoNum type="arabicPeriod" startAt="2"/>
            </a:pPr>
            <a:r>
              <a:rPr lang="en-US" altLang="en-US" dirty="0">
                <a:solidFill>
                  <a:srgbClr val="333333"/>
                </a:solidFill>
                <a:latin typeface="Times New Roman" panose="02020603050405020304" pitchFamily="18" charset="0"/>
                <a:cs typeface="Times New Roman" panose="02020603050405020304" pitchFamily="18" charset="0"/>
              </a:rPr>
              <a:t>Push the low byte of PC to the stack (decrements SP)</a:t>
            </a:r>
          </a:p>
          <a:p>
            <a:pPr lvl="0" defTabSz="914400" eaLnBrk="0" fontAlgn="base" hangingPunct="0">
              <a:spcBef>
                <a:spcPct val="0"/>
              </a:spcBef>
              <a:spcAft>
                <a:spcPct val="0"/>
              </a:spcAft>
              <a:buFontTx/>
              <a:buAutoNum type="arabicPeriod" startAt="3"/>
            </a:pPr>
            <a:r>
              <a:rPr lang="en-US" altLang="en-US" dirty="0">
                <a:solidFill>
                  <a:srgbClr val="333333"/>
                </a:solidFill>
                <a:latin typeface="Times New Roman" panose="02020603050405020304" pitchFamily="18" charset="0"/>
                <a:cs typeface="Times New Roman" panose="02020603050405020304" pitchFamily="18" charset="0"/>
              </a:rPr>
              <a:t>Push the status register to the stack with B flag clear (decrements SP)</a:t>
            </a:r>
          </a:p>
          <a:p>
            <a:pPr lvl="0" defTabSz="914400" eaLnBrk="0" fontAlgn="base" hangingPunct="0">
              <a:spcBef>
                <a:spcPct val="0"/>
              </a:spcBef>
              <a:spcAft>
                <a:spcPct val="0"/>
              </a:spcAft>
              <a:buFontTx/>
              <a:buAutoNum type="arabicPeriod" startAt="4"/>
            </a:pPr>
            <a:r>
              <a:rPr lang="en-US" altLang="en-US" dirty="0">
                <a:solidFill>
                  <a:srgbClr val="333333"/>
                </a:solidFill>
                <a:latin typeface="Times New Roman" panose="02020603050405020304" pitchFamily="18" charset="0"/>
                <a:cs typeface="Times New Roman" panose="02020603050405020304" pitchFamily="18" charset="0"/>
              </a:rPr>
              <a:t>Set the I flag to disable further interrupts</a:t>
            </a:r>
          </a:p>
          <a:p>
            <a:pPr lvl="0" defTabSz="914400" eaLnBrk="0" fontAlgn="base" hangingPunct="0">
              <a:spcBef>
                <a:spcPct val="0"/>
              </a:spcBef>
              <a:spcAft>
                <a:spcPct val="0"/>
              </a:spcAft>
              <a:buFontTx/>
              <a:buAutoNum type="arabicPeriod" startAt="5"/>
            </a:pPr>
            <a:r>
              <a:rPr lang="en-US" altLang="en-US" dirty="0">
                <a:solidFill>
                  <a:srgbClr val="333333"/>
                </a:solidFill>
                <a:latin typeface="Times New Roman" panose="02020603050405020304" pitchFamily="18" charset="0"/>
                <a:cs typeface="Times New Roman" panose="02020603050405020304" pitchFamily="18" charset="0"/>
              </a:rPr>
              <a:t>Load the new PC from the NMI vector (0xFFFA-0xFFFB)</a:t>
            </a:r>
          </a:p>
          <a:p>
            <a:pPr lvl="0" defTabSz="914400" eaLnBrk="0" fontAlgn="base" hangingPunct="0">
              <a:spcBef>
                <a:spcPct val="0"/>
              </a:spcBef>
              <a:spcAft>
                <a:spcPct val="0"/>
              </a:spcAft>
              <a:buFontTx/>
              <a:buAutoNum type="arabicPeriod" startAt="6"/>
            </a:pPr>
            <a:r>
              <a:rPr lang="en-US" altLang="en-US" dirty="0">
                <a:solidFill>
                  <a:srgbClr val="333333"/>
                </a:solidFill>
                <a:latin typeface="Times New Roman" panose="02020603050405020304" pitchFamily="18" charset="0"/>
                <a:cs typeface="Times New Roman" panose="02020603050405020304" pitchFamily="18" charset="0"/>
              </a:rPr>
              <a:t>Continue execution at the new PC</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BDDA9578-42CA-5ECD-CC20-B8BCEB2F5D63}"/>
              </a:ext>
            </a:extLst>
          </p:cNvPr>
          <p:cNvSpPr>
            <a:spLocks noChangeArrowheads="1"/>
          </p:cNvSpPr>
          <p:nvPr/>
        </p:nvSpPr>
        <p:spPr bwMode="auto">
          <a:xfrm>
            <a:off x="0" y="-2043"/>
            <a:ext cx="65" cy="461286"/>
          </a:xfrm>
          <a:prstGeom prst="rect">
            <a:avLst/>
          </a:prstGeom>
          <a:solidFill>
            <a:srgbClr val="F8F7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8250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0A4C75C9-8FCC-EC4B-3364-04E98368AFD4}"/>
              </a:ext>
            </a:extLst>
          </p:cNvPr>
          <p:cNvSpPr>
            <a:spLocks noChangeArrowheads="1"/>
          </p:cNvSpPr>
          <p:nvPr/>
        </p:nvSpPr>
        <p:spPr bwMode="auto">
          <a:xfrm>
            <a:off x="0" y="-2043"/>
            <a:ext cx="65" cy="461286"/>
          </a:xfrm>
          <a:prstGeom prst="rect">
            <a:avLst/>
          </a:prstGeom>
          <a:solidFill>
            <a:srgbClr val="F8F7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8250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7339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46230-86C9-C709-D28B-EDE46FC2E3D5}"/>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F5521739-1E65-1A77-6681-DD95D2DD9A74}"/>
              </a:ext>
            </a:extLst>
          </p:cNvPr>
          <p:cNvPicPr/>
          <p:nvPr/>
        </p:nvPicPr>
        <p:blipFill>
          <a:blip r:embed="rId2" cstate="print"/>
          <a:stretch>
            <a:fillRect/>
          </a:stretch>
        </p:blipFill>
        <p:spPr>
          <a:xfrm flipV="1">
            <a:off x="1523999" y="892576"/>
            <a:ext cx="10290629" cy="45719"/>
          </a:xfrm>
          <a:prstGeom prst="rect">
            <a:avLst/>
          </a:prstGeom>
        </p:spPr>
      </p:pic>
      <p:sp>
        <p:nvSpPr>
          <p:cNvPr id="5" name="object 2">
            <a:extLst>
              <a:ext uri="{FF2B5EF4-FFF2-40B4-BE49-F238E27FC236}">
                <a16:creationId xmlns:a16="http://schemas.microsoft.com/office/drawing/2014/main" id="{357F5628-E247-5752-CD60-DCC3BC69AA77}"/>
              </a:ext>
            </a:extLst>
          </p:cNvPr>
          <p:cNvSpPr txBox="1">
            <a:spLocks/>
          </p:cNvSpPr>
          <p:nvPr/>
        </p:nvSpPr>
        <p:spPr>
          <a:xfrm>
            <a:off x="1001485" y="325754"/>
            <a:ext cx="10813143" cy="566822"/>
          </a:xfrm>
          <a:prstGeom prst="rect">
            <a:avLst/>
          </a:prstGeom>
          <a:effectLst/>
        </p:spPr>
        <p:txBody>
          <a:bodyPr vert="horz" wrap="square" lIns="0" tIns="12700" rIns="0" bIns="0" rtlCol="0" anchor="ctr">
            <a:sp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rPr>
              <a:t>Chapter-3 : Processor Element</a:t>
            </a:r>
            <a:endParaRPr lang="en-IN" sz="3600" b="1" spc="-10" dirty="0">
              <a:solidFill>
                <a:schemeClr val="accent3">
                  <a:lumMod val="75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FE775201-4680-3BDB-9954-BBB64FAA12DB}"/>
              </a:ext>
            </a:extLst>
          </p:cNvPr>
          <p:cNvSpPr txBox="1"/>
          <p:nvPr/>
        </p:nvSpPr>
        <p:spPr>
          <a:xfrm>
            <a:off x="1523998" y="930248"/>
            <a:ext cx="10475169" cy="5693866"/>
          </a:xfrm>
          <a:prstGeom prst="rect">
            <a:avLst/>
          </a:prstGeom>
          <a:noFill/>
        </p:spPr>
        <p:txBody>
          <a:bodyPr wrap="square">
            <a:spAutoFit/>
          </a:bodyPr>
          <a:lstStyle/>
          <a:p>
            <a:pPr lvl="0" defTabSz="914400" eaLnBrk="0" fontAlgn="base" hangingPunct="0">
              <a:spcBef>
                <a:spcPct val="0"/>
              </a:spcBef>
              <a:spcAft>
                <a:spcPct val="0"/>
              </a:spcAft>
            </a:pPr>
            <a:r>
              <a:rPr lang="en-US" sz="2000" b="1" dirty="0">
                <a:solidFill>
                  <a:srgbClr val="7030A0"/>
                </a:solidFill>
                <a:latin typeface="Times New Roman" panose="02020603050405020304" pitchFamily="18" charset="0"/>
                <a:cs typeface="Times New Roman" panose="02020603050405020304" pitchFamily="18" charset="0"/>
              </a:rPr>
              <a:t>Interrupt Processing </a:t>
            </a:r>
            <a:r>
              <a:rPr 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pPr>
            <a:endParaRPr lang="en-US" altLang="en-US" sz="2000" b="1" dirty="0">
              <a:solidFill>
                <a:srgbClr val="333333"/>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b="1" dirty="0">
                <a:solidFill>
                  <a:srgbClr val="333333"/>
                </a:solidFill>
                <a:latin typeface="Times New Roman" panose="02020603050405020304" pitchFamily="18" charset="0"/>
                <a:cs typeface="Times New Roman" panose="02020603050405020304" pitchFamily="18" charset="0"/>
              </a:rPr>
              <a:t>Detailed Interrupt Sequence</a:t>
            </a:r>
          </a:p>
          <a:p>
            <a:pPr lvl="0" defTabSz="914400" eaLnBrk="0" fontAlgn="base" hangingPunct="0">
              <a:spcBef>
                <a:spcPct val="0"/>
              </a:spcBef>
              <a:spcAft>
                <a:spcPct val="0"/>
              </a:spcAft>
            </a:pPr>
            <a:r>
              <a:rPr lang="en-US" altLang="en-US" dirty="0">
                <a:solidFill>
                  <a:srgbClr val="333333"/>
                </a:solidFill>
                <a:latin typeface="Times New Roman" panose="02020603050405020304" pitchFamily="18" charset="0"/>
                <a:cs typeface="Times New Roman" panose="02020603050405020304" pitchFamily="18" charset="0"/>
              </a:rPr>
              <a:t>The following steps show the exact sequence of operations performed during interrupt handling:</a:t>
            </a:r>
            <a:endParaRPr lang="en-US" altLang="en-US" b="1" dirty="0">
              <a:solidFill>
                <a:srgbClr val="333333"/>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b="1" dirty="0">
                <a:solidFill>
                  <a:srgbClr val="333333"/>
                </a:solidFill>
                <a:latin typeface="Times New Roman" panose="02020603050405020304" pitchFamily="18" charset="0"/>
                <a:cs typeface="Times New Roman" panose="02020603050405020304" pitchFamily="18" charset="0"/>
              </a:rPr>
              <a:t>BRK (Software Interrupt)</a:t>
            </a:r>
          </a:p>
          <a:p>
            <a:pPr lvl="0" defTabSz="914400" eaLnBrk="0" fontAlgn="base" hangingPunct="0">
              <a:spcBef>
                <a:spcPct val="0"/>
              </a:spcBef>
              <a:spcAft>
                <a:spcPct val="0"/>
              </a:spcAft>
            </a:pPr>
            <a:r>
              <a:rPr lang="en-US" altLang="en-US" dirty="0">
                <a:solidFill>
                  <a:srgbClr val="333333"/>
                </a:solidFill>
                <a:latin typeface="Times New Roman" panose="02020603050405020304" pitchFamily="18" charset="0"/>
                <a:cs typeface="Times New Roman" panose="02020603050405020304" pitchFamily="18" charset="0"/>
              </a:rPr>
              <a:t>BRK is an instruction (opcode 0x00) rather than a hardware signal. When executed:</a:t>
            </a:r>
            <a:endParaRPr lang="en-US" altLang="en-US"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buFontTx/>
              <a:buAutoNum type="arabicPeriod"/>
            </a:pPr>
            <a:r>
              <a:rPr lang="en-US" altLang="en-US" dirty="0">
                <a:solidFill>
                  <a:srgbClr val="333333"/>
                </a:solidFill>
                <a:latin typeface="Times New Roman" panose="02020603050405020304" pitchFamily="18" charset="0"/>
                <a:cs typeface="Times New Roman" panose="02020603050405020304" pitchFamily="18" charset="0"/>
              </a:rPr>
              <a:t>Increment PC (to skip the byte following the BRK opcode)</a:t>
            </a:r>
          </a:p>
          <a:p>
            <a:pPr lvl="0" defTabSz="914400" eaLnBrk="0" fontAlgn="base" hangingPunct="0">
              <a:spcBef>
                <a:spcPct val="0"/>
              </a:spcBef>
              <a:spcAft>
                <a:spcPct val="0"/>
              </a:spcAft>
              <a:buFontTx/>
              <a:buAutoNum type="arabicPeriod" startAt="2"/>
            </a:pPr>
            <a:r>
              <a:rPr lang="en-US" altLang="en-US" dirty="0">
                <a:solidFill>
                  <a:srgbClr val="333333"/>
                </a:solidFill>
                <a:latin typeface="Times New Roman" panose="02020603050405020304" pitchFamily="18" charset="0"/>
                <a:cs typeface="Times New Roman" panose="02020603050405020304" pitchFamily="18" charset="0"/>
              </a:rPr>
              <a:t>Push the high byte of PC to the stack (decrements SP)</a:t>
            </a:r>
          </a:p>
          <a:p>
            <a:pPr lvl="0" defTabSz="914400" eaLnBrk="0" fontAlgn="base" hangingPunct="0">
              <a:spcBef>
                <a:spcPct val="0"/>
              </a:spcBef>
              <a:spcAft>
                <a:spcPct val="0"/>
              </a:spcAft>
              <a:buFontTx/>
              <a:buAutoNum type="arabicPeriod" startAt="3"/>
            </a:pPr>
            <a:r>
              <a:rPr lang="en-US" altLang="en-US" dirty="0">
                <a:solidFill>
                  <a:srgbClr val="333333"/>
                </a:solidFill>
                <a:latin typeface="Times New Roman" panose="02020603050405020304" pitchFamily="18" charset="0"/>
                <a:cs typeface="Times New Roman" panose="02020603050405020304" pitchFamily="18" charset="0"/>
              </a:rPr>
              <a:t>Push the low byte of PC to the stack (decrements SP)</a:t>
            </a:r>
          </a:p>
          <a:p>
            <a:pPr lvl="0" defTabSz="914400" eaLnBrk="0" fontAlgn="base" hangingPunct="0">
              <a:spcBef>
                <a:spcPct val="0"/>
              </a:spcBef>
              <a:spcAft>
                <a:spcPct val="0"/>
              </a:spcAft>
              <a:buFontTx/>
              <a:buAutoNum type="arabicPeriod" startAt="4"/>
            </a:pPr>
            <a:r>
              <a:rPr lang="en-US" altLang="en-US" dirty="0">
                <a:solidFill>
                  <a:srgbClr val="333333"/>
                </a:solidFill>
                <a:latin typeface="Times New Roman" panose="02020603050405020304" pitchFamily="18" charset="0"/>
                <a:cs typeface="Times New Roman" panose="02020603050405020304" pitchFamily="18" charset="0"/>
              </a:rPr>
              <a:t>Push the status register to the stack with B flag set (decrements SP)</a:t>
            </a:r>
          </a:p>
          <a:p>
            <a:pPr lvl="0" defTabSz="914400" eaLnBrk="0" fontAlgn="base" hangingPunct="0">
              <a:spcBef>
                <a:spcPct val="0"/>
              </a:spcBef>
              <a:spcAft>
                <a:spcPct val="0"/>
              </a:spcAft>
              <a:buFontTx/>
              <a:buAutoNum type="arabicPeriod" startAt="5"/>
            </a:pPr>
            <a:r>
              <a:rPr lang="en-US" altLang="en-US" dirty="0">
                <a:solidFill>
                  <a:srgbClr val="333333"/>
                </a:solidFill>
                <a:latin typeface="Times New Roman" panose="02020603050405020304" pitchFamily="18" charset="0"/>
                <a:cs typeface="Times New Roman" panose="02020603050405020304" pitchFamily="18" charset="0"/>
              </a:rPr>
              <a:t>Set the I flag to disable further interrupts</a:t>
            </a:r>
          </a:p>
          <a:p>
            <a:pPr lvl="0" defTabSz="914400" eaLnBrk="0" fontAlgn="base" hangingPunct="0">
              <a:spcBef>
                <a:spcPct val="0"/>
              </a:spcBef>
              <a:spcAft>
                <a:spcPct val="0"/>
              </a:spcAft>
              <a:buFontTx/>
              <a:buAutoNum type="arabicPeriod" startAt="6"/>
            </a:pPr>
            <a:r>
              <a:rPr lang="en-US" altLang="en-US" dirty="0">
                <a:solidFill>
                  <a:srgbClr val="333333"/>
                </a:solidFill>
                <a:latin typeface="Times New Roman" panose="02020603050405020304" pitchFamily="18" charset="0"/>
                <a:cs typeface="Times New Roman" panose="02020603050405020304" pitchFamily="18" charset="0"/>
              </a:rPr>
              <a:t>Load the new PC from the IRQ/BRK vector (0xFFFE-0xFFFF)</a:t>
            </a:r>
          </a:p>
          <a:p>
            <a:pPr lvl="0" defTabSz="914400" eaLnBrk="0" fontAlgn="base" hangingPunct="0">
              <a:spcBef>
                <a:spcPct val="0"/>
              </a:spcBef>
              <a:spcAft>
                <a:spcPct val="0"/>
              </a:spcAft>
              <a:buFontTx/>
              <a:buAutoNum type="arabicPeriod" startAt="7"/>
            </a:pPr>
            <a:r>
              <a:rPr lang="en-US" altLang="en-US" dirty="0">
                <a:solidFill>
                  <a:srgbClr val="333333"/>
                </a:solidFill>
                <a:latin typeface="Times New Roman" panose="02020603050405020304" pitchFamily="18" charset="0"/>
                <a:cs typeface="Times New Roman" panose="02020603050405020304" pitchFamily="18" charset="0"/>
              </a:rPr>
              <a:t>Continue execution at the new PC</a:t>
            </a:r>
          </a:p>
          <a:p>
            <a:pPr lvl="0" defTabSz="914400" eaLnBrk="0" fontAlgn="base" hangingPunct="0">
              <a:spcBef>
                <a:spcPct val="0"/>
              </a:spcBef>
              <a:spcAft>
                <a:spcPct val="0"/>
              </a:spcAft>
            </a:pPr>
            <a:endParaRPr lang="en-US" altLang="en-US" b="1" dirty="0">
              <a:solidFill>
                <a:srgbClr val="333333"/>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b="1" dirty="0">
                <a:solidFill>
                  <a:srgbClr val="333333"/>
                </a:solidFill>
                <a:latin typeface="Times New Roman" panose="02020603050405020304" pitchFamily="18" charset="0"/>
                <a:cs typeface="Times New Roman" panose="02020603050405020304" pitchFamily="18" charset="0"/>
              </a:rPr>
              <a:t>RTI (Return from Interrupt)</a:t>
            </a:r>
          </a:p>
          <a:p>
            <a:pPr lvl="0" defTabSz="914400" eaLnBrk="0" fontAlgn="base" hangingPunct="0">
              <a:spcBef>
                <a:spcPct val="0"/>
              </a:spcBef>
              <a:spcAft>
                <a:spcPct val="0"/>
              </a:spcAft>
            </a:pPr>
            <a:r>
              <a:rPr lang="en-US" altLang="en-US" dirty="0">
                <a:solidFill>
                  <a:srgbClr val="333333"/>
                </a:solidFill>
                <a:latin typeface="Times New Roman" panose="02020603050405020304" pitchFamily="18" charset="0"/>
                <a:cs typeface="Times New Roman" panose="02020603050405020304" pitchFamily="18" charset="0"/>
              </a:rPr>
              <a:t>The RTI instruction (opcode 0x40) restores the processor state after an interrupt:</a:t>
            </a:r>
            <a:endParaRPr lang="en-US" altLang="en-US"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buFontTx/>
              <a:buAutoNum type="arabicPeriod"/>
            </a:pPr>
            <a:r>
              <a:rPr lang="en-US" altLang="en-US" dirty="0">
                <a:solidFill>
                  <a:srgbClr val="333333"/>
                </a:solidFill>
                <a:latin typeface="Times New Roman" panose="02020603050405020304" pitchFamily="18" charset="0"/>
                <a:cs typeface="Times New Roman" panose="02020603050405020304" pitchFamily="18" charset="0"/>
              </a:rPr>
              <a:t>Pull the status register from the stack (increments SP)</a:t>
            </a:r>
          </a:p>
          <a:p>
            <a:pPr lvl="0" defTabSz="914400" eaLnBrk="0" fontAlgn="base" hangingPunct="0">
              <a:spcBef>
                <a:spcPct val="0"/>
              </a:spcBef>
              <a:spcAft>
                <a:spcPct val="0"/>
              </a:spcAft>
              <a:buFontTx/>
              <a:buAutoNum type="arabicPeriod" startAt="2"/>
            </a:pPr>
            <a:r>
              <a:rPr lang="en-US" altLang="en-US" dirty="0">
                <a:solidFill>
                  <a:srgbClr val="333333"/>
                </a:solidFill>
                <a:latin typeface="Times New Roman" panose="02020603050405020304" pitchFamily="18" charset="0"/>
                <a:cs typeface="Times New Roman" panose="02020603050405020304" pitchFamily="18" charset="0"/>
              </a:rPr>
              <a:t>Pull the low byte of PC from the stack (increments SP)</a:t>
            </a:r>
          </a:p>
          <a:p>
            <a:pPr lvl="0" defTabSz="914400" eaLnBrk="0" fontAlgn="base" hangingPunct="0">
              <a:spcBef>
                <a:spcPct val="0"/>
              </a:spcBef>
              <a:spcAft>
                <a:spcPct val="0"/>
              </a:spcAft>
              <a:buFontTx/>
              <a:buAutoNum type="arabicPeriod" startAt="3"/>
            </a:pPr>
            <a:r>
              <a:rPr lang="en-US" altLang="en-US" dirty="0">
                <a:solidFill>
                  <a:srgbClr val="333333"/>
                </a:solidFill>
                <a:latin typeface="Times New Roman" panose="02020603050405020304" pitchFamily="18" charset="0"/>
                <a:cs typeface="Times New Roman" panose="02020603050405020304" pitchFamily="18" charset="0"/>
              </a:rPr>
              <a:t>Pull the high byte of PC from the stack (increments SP)</a:t>
            </a:r>
          </a:p>
          <a:p>
            <a:pPr lvl="0" defTabSz="914400" eaLnBrk="0" fontAlgn="base" hangingPunct="0">
              <a:spcBef>
                <a:spcPct val="0"/>
              </a:spcBef>
              <a:spcAft>
                <a:spcPct val="0"/>
              </a:spcAft>
              <a:buFontTx/>
              <a:buAutoNum type="arabicPeriod" startAt="4"/>
            </a:pPr>
            <a:r>
              <a:rPr lang="en-US" altLang="en-US" dirty="0">
                <a:solidFill>
                  <a:srgbClr val="333333"/>
                </a:solidFill>
                <a:latin typeface="Times New Roman" panose="02020603050405020304" pitchFamily="18" charset="0"/>
                <a:cs typeface="Times New Roman" panose="02020603050405020304" pitchFamily="18" charset="0"/>
              </a:rPr>
              <a:t>Continue execution at the restored PC</a:t>
            </a:r>
            <a:endParaRPr lang="en-US" sz="20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DE733921-6EA8-8D6F-EE36-CF1285AD239B}"/>
              </a:ext>
            </a:extLst>
          </p:cNvPr>
          <p:cNvSpPr>
            <a:spLocks noChangeArrowheads="1"/>
          </p:cNvSpPr>
          <p:nvPr/>
        </p:nvSpPr>
        <p:spPr bwMode="auto">
          <a:xfrm>
            <a:off x="0" y="-2043"/>
            <a:ext cx="65" cy="461286"/>
          </a:xfrm>
          <a:prstGeom prst="rect">
            <a:avLst/>
          </a:prstGeom>
          <a:solidFill>
            <a:srgbClr val="F8F7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8250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7EBEEEED-89AA-89A9-E59D-8BB7A0FC791C}"/>
              </a:ext>
            </a:extLst>
          </p:cNvPr>
          <p:cNvSpPr>
            <a:spLocks noChangeArrowheads="1"/>
          </p:cNvSpPr>
          <p:nvPr/>
        </p:nvSpPr>
        <p:spPr bwMode="auto">
          <a:xfrm>
            <a:off x="0" y="-2043"/>
            <a:ext cx="65" cy="461286"/>
          </a:xfrm>
          <a:prstGeom prst="rect">
            <a:avLst/>
          </a:prstGeom>
          <a:solidFill>
            <a:srgbClr val="F8F7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8250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5AA0BBA0-82D7-96A5-DD4D-322F9ECA4ACD}"/>
              </a:ext>
            </a:extLst>
          </p:cNvPr>
          <p:cNvSpPr>
            <a:spLocks noChangeArrowheads="1"/>
          </p:cNvSpPr>
          <p:nvPr/>
        </p:nvSpPr>
        <p:spPr bwMode="auto">
          <a:xfrm>
            <a:off x="0" y="-94186"/>
            <a:ext cx="65" cy="645573"/>
          </a:xfrm>
          <a:prstGeom prst="rect">
            <a:avLst/>
          </a:prstGeom>
          <a:solidFill>
            <a:srgbClr val="F8F7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82505" rIns="0" bIns="18250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20787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3685</TotalTime>
  <Words>2687</Words>
  <Application>Microsoft Office PowerPoint</Application>
  <PresentationFormat>Widescreen</PresentationFormat>
  <Paragraphs>389</Paragraphs>
  <Slides>29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Aptos</vt:lpstr>
      <vt:lpstr>Arial</vt:lpstr>
      <vt:lpstr>Calibri</vt:lpstr>
      <vt:lpstr>Cambria Math</vt:lpstr>
      <vt:lpstr>Corbel</vt:lpstr>
      <vt:lpstr>Courier New</vt:lpstr>
      <vt:lpstr>Times New Roman</vt:lpstr>
      <vt:lpstr>Wingdings</vt:lpstr>
      <vt:lpstr>Parallax</vt:lpstr>
      <vt:lpstr>Modern Computing Systems Design (CSE 2221)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Addressing Modes: </vt:lpstr>
      <vt:lpstr>Addressing Modes: </vt:lpstr>
      <vt:lpstr>Addressing Modes: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Swain</dc:creator>
  <cp:lastModifiedBy>Ankit Swain</cp:lastModifiedBy>
  <cp:revision>162</cp:revision>
  <dcterms:created xsi:type="dcterms:W3CDTF">2025-08-27T13:22:29Z</dcterms:created>
  <dcterms:modified xsi:type="dcterms:W3CDTF">2025-10-31T06:59:28Z</dcterms:modified>
</cp:coreProperties>
</file>